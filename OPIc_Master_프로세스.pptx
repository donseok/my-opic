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4008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맑은 고딕"/>
              </a:rPr>
              <a:t>OPIc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0F2FE"/>
                </a:solidFill>
                <a:latin typeface="맑은 고딕"/>
              </a:rPr>
              <a:t>영어 말하기 시험(OPIc) 대비 종합 학습 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프로젝트 전체 프로세스 소개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047" y="384048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7" y="3840480"/>
            <a:ext cx="242316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0927" y="40050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84C7"/>
                </a:solidFill>
                <a:latin typeface="맑은 고딕"/>
              </a:rPr>
              <a:t>Web +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927" y="438912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맑은 고딕"/>
              </a:rPr>
              <a:t>Vanilla JS SPA
Flutter 모바일 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5527" y="384048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5527" y="3840480"/>
            <a:ext cx="242316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8407" y="40050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84C7"/>
                </a:solidFill>
                <a:latin typeface="맑은 고딕"/>
              </a:rPr>
              <a:t>AI 평가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8407" y="438912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맑은 고딕"/>
              </a:rPr>
              <a:t>Google Gemini 2.5 Flash
텍스트 + 음성 멀티모달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384048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3840480"/>
            <a:ext cx="242316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40050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84C7"/>
                </a:solidFill>
                <a:latin typeface="맑은 고딕"/>
              </a:rPr>
              <a:t>학습 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438912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맑은 고딕"/>
              </a:rPr>
              <a:t>SRS 간격반복
5축 분석 + 개인화 플랜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0487" y="384048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30487" y="3840480"/>
            <a:ext cx="242316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3367" y="40050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84C7"/>
                </a:solidFill>
                <a:latin typeface="맑은 고딕"/>
              </a:rPr>
              <a:t>데이터베이스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3367" y="438912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맑은 고딕"/>
              </a:rPr>
              <a:t>SQLite (better-sqlite3)
18개 테이블, WAL 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035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맑은 고딕"/>
              </a:rPr>
              <a:t>2026.02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목차  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258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핵심 가치, 기술 스택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1618488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0992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8424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3-Tier 구조, 데이터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276856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414016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6829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기술 스택 상세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4261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Backend, Frontend, Mobile,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2935224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072384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02666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데이터베이스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30098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18개 테이블, 핵심 관계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593592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730752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68503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사용자 여정 — 초기 설정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9593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서베이, 레벨, 학습 사이클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4251960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3434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모의시험 프로세스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61772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5문제 출제 → 답변 → AI 평가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4910328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5047488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00176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AI 피드백 시스템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27608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5축 평가, 음성 분석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5880" y="5568696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" y="5705856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66013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스크립트 빌더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93445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초안 → AI 개선 → 암기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097280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105156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SRS 간격반복 복습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13258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SM-2 알고리즘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1618488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0" y="1755648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170992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학습 플랜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198424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약점 분석 → 개인화 태스크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2276856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2414016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236829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대시보드 &amp; 분석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264261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통계, 트렌드, 레이더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60" y="2935224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0" y="3072384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302666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모바일 앱 (Flutter)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330098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크로스 플랫폼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3593592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00800" y="3730752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368503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API 설계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39593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15개 REST 라우트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95160" y="4251960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0" y="4389120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43434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전체 학습 사이클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461772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End-to-End Flow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95160" y="4910328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00800" y="5047488"/>
            <a:ext cx="4572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500176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마무리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95160" y="527608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핵심 수치 요약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95160" y="5568696"/>
            <a:ext cx="4389120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OPIc 영어 말하기 시험 대비를 위한 AI 기반 종합 학습 플랫폼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327" y="1188720"/>
            <a:ext cx="33832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2327" y="1188720"/>
            <a:ext cx="3383280" cy="457200"/>
          </a:xfrm>
          <a:prstGeom prst="roundRect">
            <a:avLst>
              <a:gd name="adj" fmla="val 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1280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AI 맞춤 학습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178308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Google Gemini 2.5 Flash 기반 평가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5축 실력 분석 (문법/유창성/어휘/과제완성/내용전달)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음성 멀티모달 분석 (발음/억양/속도)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약점 기반 개인화 학습 플랜 자동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188720"/>
            <a:ext cx="33832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4207" y="1188720"/>
            <a:ext cx="3383280" cy="4572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087" y="1280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체계적 학습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178308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55+ 실전 OPIc 문제 은행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레벨별 답변 가이드 (IM1 ~ IH)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스크립트 빌더 + AI 생성/개선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SM-2 간격반복 복습 시스템 (SRS)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토픽별 핵심 어휘 100개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6087" y="1188720"/>
            <a:ext cx="33832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6087" y="1188720"/>
            <a:ext cx="3383280" cy="45720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8967" y="1280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멀티 플랫폼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687" y="178308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웹 SPA (Vanilla JS, 프레임워크 없음)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Flutter 모바일 앱 (iOS / Android)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동일 REST API 백엔드 공유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반응형 디자인 + 오프라인 SQLite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맑은 고딕"/>
              </a:rPr>
              <a:t>OPIc 레벨 체계 (9단계)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147" y="50292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NL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3555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75307" y="50292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NM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3715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55467" y="50292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3875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5627" y="50292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4035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15787" y="50292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IM1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4195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95947" y="50292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IM2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4355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6107" y="50292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IM3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4515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56267" y="50292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IH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34675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36427" y="50292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3-Tier: Client → Server → Data /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188720"/>
            <a:ext cx="118872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120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284C7"/>
                </a:solidFill>
                <a:latin typeface="맑은 고딕"/>
              </a:rPr>
              <a:t>Web SPA  (Vanilla 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Hash 라우팅  |  10개 모듈  |  Chart.js  |  WebAudio  |  Speech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120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2763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5CF6"/>
                </a:solidFill>
                <a:latin typeface="맑은 고딕"/>
              </a:rPr>
              <a:t>Flutter 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0195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Provider 패턴  |  10개 Screen  |  fl_chart  |  5탭 네비게이션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200400" y="2514600"/>
            <a:ext cx="201168" cy="25603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8686800" y="2514600"/>
            <a:ext cx="201168" cy="25603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83464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2194560" cy="256032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SERVER  (Node.js + Express)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73552"/>
            <a:ext cx="33375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맑은 고딕"/>
              </a:rPr>
              <a:t>Express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93592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라우팅 · 미들웨어
CORS · Rate Limit · Static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273552"/>
            <a:ext cx="33375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337560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맑은 고딕"/>
              </a:rPr>
              <a:t>REST API (15 Routes)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93592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/api/v1/* 프리픽스
시험 · 피드백 · SRS · 대시보드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3273552"/>
            <a:ext cx="33375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3337560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맑은 고딕"/>
              </a:rPr>
              <a:t>AI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593592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Gemini 프록시
텍스트+오디오 평가 · 플랜 생성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200400" y="4251960"/>
            <a:ext cx="201168" cy="25603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8686800" y="4251960"/>
            <a:ext cx="201168" cy="25603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" y="4681728"/>
            <a:ext cx="1005840" cy="237744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0292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맑은 고딕"/>
              </a:rPr>
              <a:t>SQLite (better-sqlite3, WAL Mode)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303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18개 테이블  |  동기식 API  |  자동 마이그레이션  |  opic_master.db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4572000"/>
            <a:ext cx="5532120" cy="118872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0" y="4681728"/>
            <a:ext cx="1463040" cy="237744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EXTERNAL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029200"/>
            <a:ext cx="525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5CF6"/>
                </a:solidFill>
                <a:latin typeface="맑은 고딕"/>
              </a:rPr>
              <a:t>Google Gemini 2.5 Flash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30352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텍스트 평가  |  오디오 분석  |  스크립트 생성/개선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기술 스택 상세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3747" y="105156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6627" y="111556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1645920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6627" y="170992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Node.js 20 + Express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747" y="2048256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6627" y="2112264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better-sqlite3 v12.6 (동기식 SQLite)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747" y="2450592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627" y="251460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WAL 모드 (동시 읽기 최적화)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747" y="2852928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627" y="29169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node-fetch (Gemini API 호출)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747" y="3255264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627" y="3319272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express-rate-limit (100 req/min)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747" y="3657600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627" y="372160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CORS 미들웨어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747" y="4059936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627" y="4123944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SPA 폴백 라우팅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1347" y="105156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4227" y="111556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Web Frontend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1347" y="1645920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4227" y="170992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Vanilla JavaScript (No Framework)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1347" y="2048256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4227" y="2112264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Hash 기반 SPA 라우터 (app.js)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1347" y="2450592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4227" y="251460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Chart.js 4 (CDN) — 차트/레이더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1347" y="2852928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4227" y="29169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Lucide Icons (CDN)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1347" y="3255264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4227" y="3319272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WebAudio API (녹음)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1347" y="3657600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4227" y="372160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Web Speech API (TTS/STT)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1347" y="4059936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4227" y="4123944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CSS Custom Properties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38947" y="105156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1827" y="111556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Mobile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38947" y="1645920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1827" y="170992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Flutter (Dart)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38947" y="2048256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1827" y="2112264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Provider 패턴 (상태 관리)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8947" y="2450592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1827" y="251460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fl_chart (차트 라이브러리)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38947" y="2852928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1827" y="29169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5탭 BottomNavigationBar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38947" y="3255264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1827" y="3319272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AppBar 메뉴 (서베이/레벨/스크립트)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38947" y="3657600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1827" y="372160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플랫폼별 API 주소 자동 설정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38947" y="4059936"/>
            <a:ext cx="3429000" cy="365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1827" y="4123944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맑은 고딕"/>
              </a:rPr>
              <a:t>Material Design 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3747" y="5029200"/>
            <a:ext cx="10744200" cy="11430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6627" y="5120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맑은 고딕"/>
              </a:rPr>
              <a:t>AI Service — Google Gemini 2.5 Flash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6627" y="5486400"/>
            <a:ext cx="2457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맑은 고딕"/>
              </a:rPr>
              <a:t>evaluateAnswers()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6627" y="5742432"/>
            <a:ext cx="2457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텍스트 답변 → 5축 점수 + 피드백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55517" y="5486400"/>
            <a:ext cx="2457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맑은 고딕"/>
              </a:rPr>
              <a:t>analyzeVoiceRecording()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55517" y="5742432"/>
            <a:ext cx="2457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오디오 → 발음/유창성/억양 분석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04407" y="5486400"/>
            <a:ext cx="2457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맑은 고딕"/>
              </a:rPr>
              <a:t>generateScript()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04407" y="5742432"/>
            <a:ext cx="2457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질문+토픽 → AI 스크립트 초안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53297" y="5486400"/>
            <a:ext cx="2457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맑은 고딕"/>
              </a:rPr>
              <a:t>refineScript()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53297" y="5742432"/>
            <a:ext cx="2457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기존 스크립트 → AI 개선 버전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데이터베이스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SQLite 18개 테이블 — 4개 카테고리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9175" y="1097280"/>
            <a:ext cx="2386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Core (기본)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1554480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175" y="1581912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맑은 고딕"/>
              </a:rPr>
              <a:t>survey_topics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175" y="1773936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10개 OPIc 토픽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447" y="2039112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175" y="2066544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맑은 고딕"/>
              </a:rPr>
              <a:t>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175" y="2258568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9단계 레벨 정의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" y="2523744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175" y="2551176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맑은 고딕"/>
              </a:rPr>
              <a:t>user_settings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" y="2743200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현재/목표 레벨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447" y="3008376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175" y="3035808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맑은 고딕"/>
              </a:rPr>
              <a:t>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175" y="3227832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55+ 문제 은행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447" y="3493008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175" y="3520440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맑은 고딕"/>
              </a:rPr>
              <a:t>answer_guides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175" y="3712464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레벨별 답변 가이드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8367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8095" y="1097280"/>
            <a:ext cx="2386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Exam &amp; AI (시험)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8367" y="1554480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8095" y="1581912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맑은 고딕"/>
              </a:rPr>
              <a:t>exam_sessions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8095" y="1773936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모의시험 세션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8367" y="2039112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8095" y="2066544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맑은 고딕"/>
              </a:rPr>
              <a:t>exam_answers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8095" y="2258568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개별 답변 저장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98367" y="2523744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08095" y="2551176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맑은 고딕"/>
              </a:rPr>
              <a:t>ai_feedbacks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8095" y="2743200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AI 평가 결과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8367" y="3008376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8095" y="3035808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맑은 고딕"/>
              </a:rPr>
              <a:t>skill_assessments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8095" y="3227832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5축 점수 기록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98367" y="3493008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8095" y="3520440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맑은 고딕"/>
              </a:rPr>
              <a:t>voice_recordings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8095" y="3712464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음성 녹음 Base64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98367" y="3977640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08095" y="4005072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맑은 고딕"/>
              </a:rPr>
              <a:t>voice_analyses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8095" y="4197096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음성 AI 분석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7287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7015" y="1097280"/>
            <a:ext cx="2386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Script &amp; SRS (학습)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7287" y="1554480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7015" y="1581912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맑은 고딕"/>
              </a:rPr>
              <a:t>scripts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7015" y="1773936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답변 스크립트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87287" y="2039112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7015" y="2066544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맑은 고딕"/>
              </a:rPr>
              <a:t>script_practices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7015" y="2258568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스크립트 연습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7287" y="2523744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7015" y="2551176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맑은 고딕"/>
              </a:rPr>
              <a:t>sentence_practices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7015" y="2743200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문장별 발음 연습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87287" y="3008376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7015" y="3035808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맑은 고딕"/>
              </a:rPr>
              <a:t>srs_items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97015" y="3227832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SRS 플래시카드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87287" y="3493008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7015" y="3520440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맑은 고딕"/>
              </a:rPr>
              <a:t>srs_reviews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7015" y="3712464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복습 이력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76207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85935" y="1097280"/>
            <a:ext cx="2386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Plan &amp; Track (추적)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76207" y="1554480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85935" y="1581912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study_plans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85935" y="1773936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일일 학습 계획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76207" y="2039112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85935" y="2066544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study_tasks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85935" y="2258568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계획 내 태스크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76207" y="2523744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85935" y="2551176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study_sessions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85935" y="2743200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학습 시간 추적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76207" y="3008376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85935" y="3035808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daily_attendance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85935" y="3227832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출석/스트릭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76207" y="3493008"/>
            <a:ext cx="2606040" cy="438912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85935" y="3520440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point_history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85935" y="3712464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포인트 이력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9447" y="466344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2327" y="47548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핵심 데이터 관계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3767" y="5074920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exam_sessions ← exam_answers → ai_feedbacks → skill_assessments   (시험 → 답변 → 평가 → 추적)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3767" y="5349240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questions → answer_guides → srs_items → srs_reviews   (문제 → 가이드 → 플래시카드 → 복습)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3767" y="5623560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study_plans → study_tasks   (계획 → 태스크)  |  scripts → script_practices   (스크립트 → 연습)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3767" y="5897880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JSON 배열 필드: strengths, improvements, key_phrases 등 → DB에 JSON 문자열 저장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사용자 여정 — 초기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3단계 설정 후 일일 학습 사이클 시작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047" y="1097280"/>
            <a:ext cx="365760" cy="320040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50876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607" y="1618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84C7"/>
                </a:solidFill>
                <a:latin typeface="맑은 고딕"/>
              </a:rPr>
              <a:t>서베이 (토픽 선택)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196596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10개 OPIc 토픽 중 3~5개 선택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자기소개 · 집/이웃 · 여가활동 · 여행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스포츠 · 음악 · 요리 · 기술 · 교육 · 직장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25+ 전략 팁으로 유리한 조합 추천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18407" y="2551176"/>
            <a:ext cx="41148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12967" y="1097280"/>
            <a:ext cx="365760" cy="32004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5647" y="150876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8527" y="1618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맑은 고딕"/>
              </a:rPr>
              <a:t>레벨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47" y="196596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현재 레벨 선택 (NL ~ AL 9단계)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목표 레벨 설정 (예: IM2 → IH)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레벨에 따라 답변 가이드 난이도 조절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문제 유형별 가중치 자동 설정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50327" y="2551176"/>
            <a:ext cx="41148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44887" y="1097280"/>
            <a:ext cx="365760" cy="32004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27567" y="150876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0447" y="1618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5CF6"/>
                </a:solidFill>
                <a:latin typeface="맑은 고딕"/>
              </a:rPr>
              <a:t>학습 시작!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6167" y="196596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학습 플랜 자동 생성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SRS 시드 (플래시카드) 자동 생성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문제은행 전체 접근 가능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대시보드 추적 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맑은 고딕"/>
              </a:rPr>
              <a:t>일일 학습 사이클 (Daily Learning Cycle)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3687" y="4572000"/>
            <a:ext cx="1143000" cy="100584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학습 플랜
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4975" y="4965192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52447" y="4572000"/>
            <a:ext cx="1143000" cy="100584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SRS
복습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3735" y="4965192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61207" y="4572000"/>
            <a:ext cx="1143000" cy="100584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문제
연습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2495" y="4965192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69967" y="4572000"/>
            <a:ext cx="1143000" cy="100584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스크립트
작성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1255" y="4965192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4572000"/>
            <a:ext cx="1143000" cy="1005840"/>
          </a:xfrm>
          <a:prstGeom prst="roundRect">
            <a:avLst>
              <a:gd name="adj" fmla="val 12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어휘
학습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0015" y="4965192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87487" y="4572000"/>
            <a:ext cx="1143000" cy="100584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모의
시험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8775" y="4965192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96247" y="4572000"/>
            <a:ext cx="1143000" cy="100584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AI
피드백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7535" y="4965192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05007" y="4572000"/>
            <a:ext cx="1143000" cy="100584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대시보드
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71500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↻  약점 분석 결과가 다음 날 학습 플랜에 자동 반영 → 지속적 개선 사이클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핵심 프로세스 — 모의시험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5문제 자동 출제 → 답변 → AI 평가까지의 전체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4079" y="1097280"/>
            <a:ext cx="310896" cy="274320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687" y="1444752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415" y="1536192"/>
            <a:ext cx="17922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284C7"/>
                </a:solidFill>
                <a:latin typeface="맑은 고딕"/>
              </a:rPr>
              <a:t>시험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415" y="1792224"/>
            <a:ext cx="1792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맑은 고딕"/>
              </a:rPr>
              <a:t>POST /exam/start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47" y="2084832"/>
            <a:ext cx="1737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선택 토픽에서 5문제 자동 구성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4개 서베이/콤보 + 1개 롤플레이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난이도: 설정 레벨 기준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32507" y="2807208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17239" y="1097280"/>
            <a:ext cx="310896" cy="27432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6847" y="1444752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6575" y="1536192"/>
            <a:ext cx="17922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맑은 고딕"/>
              </a:rPr>
              <a:t>답변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6575" y="1792224"/>
            <a:ext cx="1792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맑은 고딕"/>
              </a:rPr>
              <a:t>텍스트 또는 음성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4007" y="2084832"/>
            <a:ext cx="1737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서베이: 90초 타이머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롤플레이: 120초 타이머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실시간 단어 수 카운트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목표: 60~130+ 단어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655667" y="2807208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0399" y="1097280"/>
            <a:ext cx="310896" cy="27432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0007" y="1444752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9735" y="1536192"/>
            <a:ext cx="17922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맑은 고딕"/>
              </a:rPr>
              <a:t>TTS 재생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9735" y="1792224"/>
            <a:ext cx="1792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맑은 고딕"/>
              </a:rPr>
              <a:t>Web Speech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7167" y="2084832"/>
            <a:ext cx="1737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질문 영어 원문 TTS 재생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실전 환경 시뮬레이션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속도 조절 가능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78827" y="2807208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63559" y="1097280"/>
            <a:ext cx="310896" cy="27432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3167" y="1444752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2895" y="1536192"/>
            <a:ext cx="17922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5CF6"/>
                </a:solidFill>
                <a:latin typeface="맑은 고딕"/>
              </a:rPr>
              <a:t>결과 저장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2895" y="1792224"/>
            <a:ext cx="1792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맑은 고딕"/>
              </a:rPr>
              <a:t>POST /exam/sessions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0327" y="2084832"/>
            <a:ext cx="1737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exam_sessions 세션 생성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exam_answers에 답변 저장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텍스트 + 단어 수 기록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음성 시 Base64 저장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01987" y="2807208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786719" y="1097280"/>
            <a:ext cx="310896" cy="27432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6327" y="1444752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6055" y="1536192"/>
            <a:ext cx="17922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4444"/>
                </a:solidFill>
                <a:latin typeface="맑은 고딕"/>
              </a:rPr>
              <a:t>AI 평가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6055" y="1792224"/>
            <a:ext cx="1792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맑은 고딕"/>
              </a:rPr>
              <a:t>POST /feedback/evaluate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3487" y="2084832"/>
            <a:ext cx="1737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Gemini에 5개 답변 전송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5축 점수 + 예측 레벨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강점 3개 + 개선점 3개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skill_assessments 저장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시험 구성 (5문제)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8027" y="4983480"/>
            <a:ext cx="2057400" cy="59436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Q1  서베이
일상 관련 질문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72587" y="4983480"/>
            <a:ext cx="2057400" cy="5943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Q2  서베이
취미/관심사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67147" y="4983480"/>
            <a:ext cx="2057400" cy="5943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Q3  콤보
비교/경험 질문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1707" y="4983480"/>
            <a:ext cx="2057400" cy="59436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Q4  콤보
습관/선호 질문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56267" y="4983480"/>
            <a:ext cx="2057400" cy="59436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Q5  롤플레이
상황극 (120초)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AI 피드백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Google Gemini 기반 5축 텍스트 평가 + 음성 멀티모달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3035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284C7"/>
                </a:solidFill>
                <a:latin typeface="맑은 고딕"/>
              </a:rPr>
              <a:t>5축 실력 평가 (Skill Assessment)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4937760" cy="5486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9344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Grammar  문법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문법 정확성, 시제 일치, 구문 복잡도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91640"/>
            <a:ext cx="502920" cy="201168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0~100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57984"/>
            <a:ext cx="4937760" cy="5486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12848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Fluency  유창성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32304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자연스러운 발화, 필러 최소화, 연결어 사용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295144"/>
            <a:ext cx="502920" cy="201168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0~100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61488"/>
            <a:ext cx="4937760" cy="5486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16352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Vocabulary  어휘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35808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어휘 다양성, 적절한 표현, 콜로케이션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898648"/>
            <a:ext cx="502920" cy="201168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0~100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64992"/>
            <a:ext cx="4937760" cy="5486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19856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Task Completion  과제완성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639312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질문에 대한 완전한 답변, 구조적 응답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502152"/>
            <a:ext cx="502920" cy="201168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0~100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68496"/>
            <a:ext cx="4937760" cy="5486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02336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Content Delivery  내용전달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242816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논리적 흐름, 구체적 예시, 설득력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4105656"/>
            <a:ext cx="502920" cy="201168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0~100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1051560"/>
            <a:ext cx="54864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1430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B5CF6"/>
                </a:solidFill>
                <a:latin typeface="맑은 고딕"/>
              </a:rPr>
              <a:t>음성 분석 (Voice Analysis — Multimodal)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554480"/>
            <a:ext cx="5120640" cy="438912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59105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발음 점수  Pronunciation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17830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음소 정확도, 강세/약세 패턴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029968"/>
            <a:ext cx="5120640" cy="438912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066544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유창성 점수  Fluency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25856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발화 속도, 끊김, 자연스러움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2505456"/>
            <a:ext cx="5120640" cy="438912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542032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억양 점수  Intonation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734056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문장 억양 패턴, 감정 표현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2980944"/>
            <a:ext cx="5120640" cy="438912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01752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발화 속도  Pace WPM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209544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분당 단어 수 측정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3456432"/>
            <a:ext cx="5120640" cy="438912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49300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필러 워드  Filler Words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685032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um, uh, like 등 불필요 단어 감지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3931920"/>
            <a:ext cx="5120640" cy="438912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96849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포즈  Pauses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16052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부자연스러운 멈춤 횟수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4407408"/>
            <a:ext cx="5120640" cy="438912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443984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맑은 고딕"/>
              </a:rPr>
              <a:t>명확도  Clarity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63600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맑은 고딕"/>
              </a:rPr>
              <a:t>종합적 음성 명확도 점수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19379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맑은 고딕"/>
              </a:rPr>
              <a:t>AI 평가 데이터 흐름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3767" y="55321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답변 수집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2730855" y="5660136"/>
            <a:ext cx="2286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032607" y="55321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Gemini API 전송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4879695" y="5660136"/>
            <a:ext cx="2286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181447" y="55321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5축 점수 산출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7028535" y="5660136"/>
            <a:ext cx="2286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330287" y="55321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강점/개선점 생성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9177375" y="5660136"/>
            <a:ext cx="2286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479127" y="55321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DB 저장 + 대시보드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스크립트 빌더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답변 스크립트 작성 → AI 개선 → 체계적 암기 프로세스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50111" y="1051560"/>
            <a:ext cx="274320" cy="246888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7151" y="137160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" y="14630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284C7"/>
                </a:solidFill>
                <a:latin typeface="맑은 고딕"/>
              </a:rPr>
              <a:t>초안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" y="1719072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591" y="201168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사용자가 직접
답변 초안 작성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10815" y="2276856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4399" y="1051560"/>
            <a:ext cx="274320" cy="246888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1439" y="137160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2879" y="14630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맑은 고딕"/>
              </a:rPr>
              <a:t>AI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2879" y="1719072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879" y="201168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Gemini가 구조화된
모범 스크립트 생성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15103" y="2276856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58687" y="1051560"/>
            <a:ext cx="274320" cy="24688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727" y="137160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7167" y="14630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맑은 고딕"/>
              </a:rPr>
              <a:t>AI 개선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7167" y="1719072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Refine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7167" y="201168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기존 스크립트를
AI가 개선·보완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19391" y="2276856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2975" y="1051560"/>
            <a:ext cx="274320" cy="246888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40015" y="137160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31455" y="14630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5CF6"/>
                </a:solidFill>
                <a:latin typeface="맑은 고딕"/>
              </a:rPr>
              <a:t>암기 모드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1455" y="1719072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Memorize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1455" y="201168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플래시카드 연습
(질문 ↔ 스크립트)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23679" y="2276856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67263" y="1051560"/>
            <a:ext cx="274320" cy="246888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44303" y="137160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35743" y="14630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4444"/>
                </a:solidFill>
                <a:latin typeface="맑은 고딕"/>
              </a:rPr>
              <a:t>마스터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35743" y="1719072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Mastered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5743" y="201168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완전 숙지 후
SRS 장기 기억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7490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맑은 고딕"/>
              </a:rPr>
              <a:t>스크립트 연습 방법 (3가지)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6607" y="4160519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607" y="4160519"/>
            <a:ext cx="45720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487" y="4270247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284C7"/>
                </a:solidFill>
                <a:latin typeface="맑은 고딕"/>
              </a:rPr>
              <a:t>Flashcard 연습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487" y="457199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질문-답변 플래시카드
반복 노출을 통한 자동 암기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04207" y="4160519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04207" y="4160519"/>
            <a:ext cx="4572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87087" y="4270247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맑은 고딕"/>
              </a:rPr>
              <a:t>Speaking 연습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87087" y="457199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스크립트를 보며 음성 녹음
AI 발음·유창성 비교 평가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61807" y="4160519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61807" y="4160519"/>
            <a:ext cx="4572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4687" y="4270247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맑은 고딕"/>
              </a:rPr>
              <a:t>Typing 연습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4687" y="457199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스크립트를 보지 않고 타이핑
정확도 확인으로 약점 파악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57784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문장 단위 연습:  스크립트를 문장별로 분리 → 녹음 → AI가 발음 등급 부여 (AL / IH / IM / IL / NM)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SRS 간격반복 복습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SM-2 알고리즘 기반 과학적 장기 기억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맑은 고딕"/>
              </a:rPr>
              <a:t>SM-2 간격반복 알고리즘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48463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맑은 고딕"/>
              </a:rPr>
              <a:t>평가 척도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556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0 (완전 망각) ~ 5 (완벽 기억)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0552"/>
            <a:ext cx="48463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맑은 고딕"/>
              </a:rPr>
              <a:t>ease_factor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19456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난이도 계수 — 초기값 2.5, 최소 1.3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569464"/>
            <a:ext cx="48463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334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맑은 고딕"/>
              </a:rPr>
              <a:t>interval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63347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다음 복습까지의 간격 (일 단위)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08376"/>
            <a:ext cx="48463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7238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맑은 고딕"/>
              </a:rPr>
              <a:t>repetitions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07238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연속 성공 반복 횟수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538728"/>
            <a:ext cx="484632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2160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핵심 로직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4164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F4444"/>
                </a:solidFill>
                <a:latin typeface="맑은 고딕"/>
              </a:rPr>
              <a:t>quality &lt; 3 일 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04164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리셋:  repetitions = 0,  interval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2569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맑은 고딕"/>
              </a:rPr>
              <a:t>quality ≥ 3 일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42569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interval = interval × ease_factor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0974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EF 업데이트 공식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80974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EF' = EF + (0.1 − (5−q) × (0.08 + (5−q) × 0.02))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330952"/>
            <a:ext cx="484632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681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맑은 고딕"/>
              </a:rPr>
              <a:t>복습 간격 예시 (quality = 4 연속)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424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Day 0 → 1일 후 → Day 1 → 6일 후 → Day 7 → 15일 후 → Day 22 → 38일 후 → Day 60 → 95일 후 → 장기 기억 정착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105156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188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284C7"/>
                </a:solidFill>
                <a:latin typeface="맑은 고딕"/>
              </a:rPr>
              <a:t>SRS 학습 프로세스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169164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1801368"/>
            <a:ext cx="274320" cy="237744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8013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284C7"/>
                </a:solidFill>
                <a:latin typeface="맑은 고딕"/>
              </a:rPr>
              <a:t>시드 생성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0" y="1801368"/>
            <a:ext cx="1737360" cy="201168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 /srs/seed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13055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답변 가이드의 key_phrases에서
SRS 플래시카드를 자동 생성합니다.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283464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46520" y="2944368"/>
            <a:ext cx="274320" cy="237744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29443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맑은 고딕"/>
              </a:rPr>
              <a:t>오늘 복습 조회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2944368"/>
            <a:ext cx="1737360" cy="201168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 /srs/due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27355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next_review ≤ today 조건으로
오늘 복습할 카드 목록을 가져옵니다.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397764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4087368"/>
            <a:ext cx="274320" cy="237744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0873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맑은 고딕"/>
              </a:rPr>
              <a:t>카드 복습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4087368"/>
            <a:ext cx="1737360" cy="201168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플래시카드 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41655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영어 핵심 표현이 제시되면
의미와 사용법을 기억해 확인합니다.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512064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46520" y="5230368"/>
            <a:ext cx="274320" cy="237744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2303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5CF6"/>
                </a:solidFill>
                <a:latin typeface="맑은 고딕"/>
              </a:rPr>
              <a:t>평가 + 스케줄링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09760" y="5230368"/>
            <a:ext cx="1737360" cy="201168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 /srs/review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55955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0~5 자기 평가를 입력하면
SM-2로 다음 복습 일정이 계산됩니다.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64008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GET /srs/stats — 총 카드 수, 오늘 복습 수, 숙달 수, 평균 ease_factor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학습 플랜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약점 분석 기반 개인화 일일 학습 계획 자동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3035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맑은 고딕"/>
              </a:rPr>
              <a:t>약점 분석 (Weakness Analysis)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최근 시험 결과에서 5축 점수를 분석합니다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80점 미만 영역을 약점으로 자동 식별합니다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가장 낮은 점수 영역에 높은 우선순위를 부여합니다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최근 3~5회 시험 평균으로 추세를 파악합니다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취약 문제 유형 (서베이/콤보/롤플레이)을 식별합니다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SRS 복습 필요 항목 수를 확인합니다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51560"/>
            <a:ext cx="54864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284C7"/>
                </a:solidFill>
                <a:latin typeface="맑은 고딕"/>
              </a:rPr>
              <a:t>자동 생성 태스크 유형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120640" cy="320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691640"/>
            <a:ext cx="1143000" cy="201168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srs_review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6916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SRS 복습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69164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오늘 복습할 플래시카드 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5120640" cy="320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057400"/>
            <a:ext cx="1143000" cy="201168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skill_practice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0574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스킬 연습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5740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약점 영역 집중 연습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377440"/>
            <a:ext cx="5120640" cy="320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423160"/>
            <a:ext cx="1143000" cy="20116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exam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4231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모의 시험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4231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정기적 실전 시험 (주 2~3회)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743200"/>
            <a:ext cx="5120640" cy="320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2788920"/>
            <a:ext cx="1143000" cy="201168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script_review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889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스크립트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78892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작성한 스크립트 암기 연습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108960"/>
            <a:ext cx="5120640" cy="320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3154680"/>
            <a:ext cx="1143000" cy="201168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question_review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154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문제 복습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15468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취약 토픽/유형 문제 재학습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474720"/>
            <a:ext cx="5120640" cy="320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3520440"/>
            <a:ext cx="1143000" cy="201168"/>
          </a:xfrm>
          <a:prstGeom prst="roundRect">
            <a:avLst>
              <a:gd name="adj" fmla="val 15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vocabulary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5204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어휘 학습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52044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핵심 표현 100개 학습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343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맑은 고딕"/>
              </a:rPr>
              <a:t>일일 학습 플랜 자동 생성 흐름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8030" y="4754880"/>
            <a:ext cx="1874519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470" y="4892040"/>
            <a:ext cx="1691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284C7"/>
                </a:solidFill>
                <a:latin typeface="맑은 고딕"/>
              </a:rPr>
              <a:t>오늘 플랜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70" y="521208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GET /study-plan/today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598269" y="5180076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18309" y="4754880"/>
            <a:ext cx="1874519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09749" y="4892040"/>
            <a:ext cx="1691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</a:rPr>
              <a:t>약점 분석 실행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09749" y="521208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getWeaknessAnalysis()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838548" y="5180076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58588" y="4754880"/>
            <a:ext cx="1874519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0028" y="4892040"/>
            <a:ext cx="1691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맑은 고딕"/>
              </a:rPr>
              <a:t>태스크 구성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0028" y="521208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generateDailyPlan()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078827" y="5180076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98867" y="4754880"/>
            <a:ext cx="1874519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0307" y="4892040"/>
            <a:ext cx="1691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5CF6"/>
                </a:solidFill>
                <a:latin typeface="맑은 고딕"/>
              </a:rPr>
              <a:t>우선순위 배정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0307" y="521208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priority: 1~5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319106" y="5180076"/>
            <a:ext cx="27432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39146" y="4754880"/>
            <a:ext cx="1874519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0586" y="4892040"/>
            <a:ext cx="1691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F4444"/>
                </a:solidFill>
                <a:latin typeface="맑은 고딕"/>
              </a:rPr>
              <a:t>학습 + 완료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0586" y="521208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PUT /tasks/:id/complete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대시보드 &amp;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학습 성과를 시각적으로 추적하고 분석하는 종합 대시보드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867" y="1051560"/>
            <a:ext cx="2606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867" y="1051560"/>
            <a:ext cx="260604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027" y="118872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84C7"/>
                </a:solidFill>
                <a:latin typeface="맑은 고딕"/>
              </a:rPr>
              <a:t>종합 통계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8027" y="1490472"/>
            <a:ext cx="2331720" cy="201168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 /dashboard/stats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182880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총 시험 횟수 및 평균 점수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최고/최저 점수 기록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연속 학습일 (스트릭)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누적 학습 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051560"/>
            <a:ext cx="2606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75507" y="1051560"/>
            <a:ext cx="26060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2667" y="118872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맑은 고딕"/>
              </a:rPr>
              <a:t>점수 트렌드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2667" y="1490472"/>
            <a:ext cx="2331720" cy="201168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 /dashboard/trends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387" y="182880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5축 점수 시계열 데이터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Line Chart (Chart.js)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주간/월간 성장률 비교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목표 달성도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051560"/>
            <a:ext cx="2606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051560"/>
            <a:ext cx="2606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118872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맑은 고딕"/>
              </a:rPr>
              <a:t>5축 스킬 레이더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7307" y="1490472"/>
            <a:ext cx="2331720" cy="201168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 /dashboard/skills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182880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이번 주 vs 지난 주 비교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Radar Chart (Chart.js)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각 축별 성장/하락 표시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약점 영역 하이라이트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4787" y="1051560"/>
            <a:ext cx="2606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4787" y="1051560"/>
            <a:ext cx="26060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1947" y="118872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5CF6"/>
                </a:solidFill>
                <a:latin typeface="맑은 고딕"/>
              </a:rPr>
              <a:t>학습 스트릭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1947" y="1490472"/>
            <a:ext cx="2331720" cy="201168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 /dashboard/streak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7667" y="182880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연속 학습일 캘린더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일일 체크인 히트맵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포인트 누적 현황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475569"/>
                </a:solidFill>
                <a:latin typeface="맑은 고딕"/>
              </a:rPr>
              <a:t>•  배지/보상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맑은 고딕"/>
              </a:rPr>
              <a:t>주간 학습 요약  GET /dashboard/weekly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8027" y="4709160"/>
            <a:ext cx="1691640" cy="685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467" y="48006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맑은 고딕"/>
              </a:rPr>
              <a:t>이번 주 시험 횟수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467" y="507492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exam_count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6827" y="4709160"/>
            <a:ext cx="1691640" cy="685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98267" y="48006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맑은 고딕"/>
              </a:rPr>
              <a:t>이번 주 평균 점수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8267" y="507492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avg_score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5627" y="4709160"/>
            <a:ext cx="1691640" cy="685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27067" y="48006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맑은 고딕"/>
              </a:rPr>
              <a:t>이번 주 학습 시간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7067" y="507492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study_minutes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4427" y="4709160"/>
            <a:ext cx="1691640" cy="685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5867" y="48006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맑은 고딕"/>
              </a:rPr>
              <a:t>완료 태스크 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5867" y="507492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tasks_completed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93227" y="4709160"/>
            <a:ext cx="1691640" cy="685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4667" y="48006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맑은 고딕"/>
              </a:rPr>
              <a:t>SRS 복습 카드 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4667" y="507492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srs_reviewed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2027" y="4709160"/>
            <a:ext cx="1691640" cy="685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13467" y="48006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맑은 고딕"/>
              </a:rPr>
              <a:t>스크립트 연습 횟수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13467" y="507492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script_practices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모바일 앱 &amp; API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Flutter 크로스 플랫폼 앱 + 15개 REST API 엔드포인트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B5CF6"/>
                </a:solidFill>
                <a:latin typeface="맑은 고딕"/>
              </a:rPr>
              <a:t>Flutter 모바일 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맑은 고딕"/>
              </a:rPr>
              <a:t>5탭 BottomNavigationBar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학습플랜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4792" y="1874519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문제은행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2344" y="1874519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모의시험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9896" y="1874519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복습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27448" y="1874519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AppBar 메뉴:  서베이, 레벨 설정, 스크립트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51760"/>
            <a:ext cx="4754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Provider 패턴으로 상태 관리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ApiService — get / post / put / delete / postLarge 정적 메서드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플랫폼별 API 주소 자동 설정 (Android: 10.0.2.2 / iOS: localhost)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fl_chart 라이브러리 — 레이더 차트, 라인 차트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Material Design 3 + AppColors ThemeExtension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  <a:latin typeface="맑은 고딕"/>
              </a:rPr>
              <a:t>•  10개 Screen + 6개 Model 클래스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05156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88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284C7"/>
                </a:solidFill>
                <a:latin typeface="맑은 고딕"/>
              </a:rPr>
              <a:t>REST API 설계 원칙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45920"/>
            <a:ext cx="5120640" cy="347472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0078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프리픽스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700784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/api/v1/*  (모든 엔드포인트)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029968"/>
            <a:ext cx="5120640" cy="347472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08483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Rate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084832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100 requests / minute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414016"/>
            <a:ext cx="5120640" cy="347472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46888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에러 형식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46888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{ error: true, code, message 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798064"/>
            <a:ext cx="5120640" cy="347472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85292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점수 범위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85292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0~100 정수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182112"/>
            <a:ext cx="5120640" cy="347472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236976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CORS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236976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ALLOWED_ORIGINS 환경변수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566160"/>
            <a:ext cx="5120640" cy="347472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62102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Body 제한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621024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10MB (음성 데이터 대응)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950208"/>
            <a:ext cx="5120640" cy="347472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00507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맑은 고딕"/>
              </a:rPr>
              <a:t>SPA 폴백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005072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맑은 고딕"/>
              </a:rPr>
              <a:t>GET * → index.html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471416"/>
            <a:ext cx="512064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60857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15개 API 라우트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488289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/topics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01000" y="488289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/levels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46920" y="488289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/settings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520293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/questions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1000" y="520293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/exam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46920" y="520293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/feedback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552297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/dashboard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1000" y="552297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/scripts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46920" y="552297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/study-plan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584301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/srs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01000" y="584301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/voice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46920" y="584301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/vocabulary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5080" y="616305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/attendance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01000" y="616305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/study-sessions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46920" y="6163056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1">
                <a:solidFill>
                  <a:srgbClr val="0284C7"/>
                </a:solidFill>
                <a:latin typeface="맑은 고딕"/>
              </a:rPr>
              <a:t>/sentence-practice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284C7"/>
                </a:solidFill>
                <a:latin typeface="맑은 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맑은 고딕"/>
              </a:rPr>
              <a:t>전체 학습 사이클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맑은 고딕"/>
              </a:rPr>
              <a:t>End-to-End Flow — 초기 설정부터 지속적 개선까지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987" y="105156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427" y="107899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" y="130759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맑은 고딕"/>
              </a:rPr>
              <a:t>초기 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987" y="16002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147" y="169164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토픽 3~5개 선택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현재/목표 레벨 설정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SRS 시드 자동 생성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69667" y="1874520"/>
            <a:ext cx="32004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35427" y="105156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6867" y="107899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6867" y="130759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맑은 고딕"/>
              </a:rPr>
              <a:t>학습 입력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35427" y="16002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2587" y="169164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문제은행 55+ 학습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답변 가이드 참고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어휘 100개 학습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47107" y="1874520"/>
            <a:ext cx="32004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2867" y="105156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4307" y="107899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4307" y="130759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맑은 고딕"/>
              </a:rPr>
              <a:t>연습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12867" y="16002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0027" y="169164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SRS 플래시카드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스크립트 암기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문장 발음 연습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24547" y="1874520"/>
            <a:ext cx="32004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0307" y="105156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1747" y="107899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1747" y="130759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맑은 고딕"/>
              </a:rPr>
              <a:t>모의시험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0307" y="16002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7467" y="169164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5문제 출제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텍스트/음성 답변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타이머 + 단어 수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01987" y="1874520"/>
            <a:ext cx="32004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67747" y="105156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9187" y="107899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ANALYZE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9187" y="130759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맑은 고딕"/>
              </a:rPr>
              <a:t>AI 분석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67747" y="16002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04907" y="169164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5축 실력 평가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음성 멀티모달 분석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475569"/>
                </a:solidFill>
                <a:latin typeface="맑은 고딕"/>
              </a:rPr>
              <a:t>•  강점/개선점 피드백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7987" y="3246120"/>
            <a:ext cx="11475720" cy="36576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867" y="3291840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맑은 고딕"/>
              </a:rPr>
              <a:t>←  분석 결과 → 약점 식별 → 다음 날 학습 플랜 자동 생성 → 약점 집중 학습 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맑은 고딕"/>
              </a:rPr>
              <a:t>기술 데이터 흐름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3707" y="429768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Client
(Web/Mobile)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086203" y="4517136"/>
            <a:ext cx="2286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351379" y="429768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HTTP
Request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033875" y="4517136"/>
            <a:ext cx="2286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99051" y="429768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Express
Router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81547" y="4517136"/>
            <a:ext cx="2286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46723" y="429768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Service
Logic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929219" y="4517136"/>
            <a:ext cx="2286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94395" y="429768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SQLite
DB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876891" y="4517136"/>
            <a:ext cx="2286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142067" y="429768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Gemini
API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074920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148072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맑은 고딕"/>
              </a:rPr>
              <a:t>보안 &amp; 품질:  XSS 방지 (innerHTML 금지)  |  Rate Limit 100 req/min  |  표준 에러 응답  |  WAL Mode  |  CORS 설정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OPIc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0F2FE"/>
                </a:solidFill>
                <a:latin typeface="맑은 고딕"/>
              </a:rPr>
              <a:t>AI 기반 OPIc 종합 학습 플랫폼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0907" y="2834640"/>
            <a:ext cx="1554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347" y="294436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284C7"/>
                </a:solidFill>
                <a:latin typeface="맑은 고딕"/>
              </a:rPr>
              <a:t>55+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347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맑은 고딕"/>
              </a:rPr>
              <a:t>실전 문제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3987" y="2834640"/>
            <a:ext cx="1554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5427" y="294436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284C7"/>
                </a:solidFill>
                <a:latin typeface="맑은 고딕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5427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맑은 고딕"/>
              </a:rPr>
              <a:t>DB 테이블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7067" y="2834640"/>
            <a:ext cx="1554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507" y="294436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284C7"/>
                </a:solidFill>
                <a:latin typeface="맑은 고딕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507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맑은 고딕"/>
              </a:rPr>
              <a:t>API 라우트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2834640"/>
            <a:ext cx="1554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1587" y="294436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284C7"/>
                </a:solidFill>
                <a:latin typeface="맑은 고딕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맑은 고딕"/>
              </a:rPr>
              <a:t>학습 모듈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3227" y="2834640"/>
            <a:ext cx="1554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4667" y="294436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284C7"/>
                </a:solidFill>
                <a:latin typeface="맑은 고딕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4667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맑은 고딕"/>
              </a:rPr>
              <a:t>OPIc 레벨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6307" y="2834640"/>
            <a:ext cx="1554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7747" y="294436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284C7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7747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맑은 고딕"/>
              </a:rPr>
              <a:t>평가 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09647" y="4389120"/>
            <a:ext cx="2468880" cy="32004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0284C7"/>
                </a:solidFill>
                <a:latin typeface="맑은 고딕"/>
              </a:rPr>
              <a:t>Node.js + Express + SQLite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61407" y="4389120"/>
            <a:ext cx="2468880" cy="32004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0284C7"/>
                </a:solidFill>
                <a:latin typeface="맑은 고딕"/>
              </a:rPr>
              <a:t>Vanilla JS SPA (No Framework)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3167" y="4389120"/>
            <a:ext cx="2468880" cy="32004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0284C7"/>
                </a:solidFill>
                <a:latin typeface="맑은 고딕"/>
              </a:rPr>
              <a:t>Flutter Mobile 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09647" y="4846320"/>
            <a:ext cx="2468880" cy="32004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0284C7"/>
                </a:solidFill>
                <a:latin typeface="맑은 고딕"/>
              </a:rPr>
              <a:t>Google Gemini 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1407" y="4846320"/>
            <a:ext cx="2468880" cy="32004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0284C7"/>
                </a:solidFill>
                <a:latin typeface="맑은 고딕"/>
              </a:rPr>
              <a:t>SM-2 간격반복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3167" y="4846320"/>
            <a:ext cx="2468880" cy="32004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0284C7"/>
                </a:solidFill>
                <a:latin typeface="맑은 고딕"/>
              </a:rPr>
              <a:t>5축 실력 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760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맑은 고딕"/>
              </a:rPr>
              <a:t>Thank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맑은 고딕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