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01168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828800"/>
            <a:ext cx="12191695" cy="457200"/>
          </a:xfrm>
          <a:prstGeom prst="roundRect">
            <a:avLst>
              <a:gd name="adj" fmla="val 5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OPIc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0F2FE"/>
                </a:solidFill>
                <a:latin typeface="맑은 고딕"/>
              </a:defRPr>
            </a:pPr>
            <a:r>
              <a:t>영어 말하기 시험(OPIc) 대비 종합 학습 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맑은 고딕"/>
              </a:defRPr>
            </a:pPr>
            <a:r>
              <a:t>프로젝트 전체 프로세스 소개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657600"/>
            <a:ext cx="2377440" cy="13716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Web + Mobile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맑은 고딕"/>
              </a:defRPr>
            </a:pPr>
            <a:r>
              <a:t>Vanilla JS SPA + Flutter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657600"/>
            <a:ext cx="2377440" cy="13716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AI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251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맑은 고딕"/>
              </a:defRPr>
            </a:pPr>
            <a:r>
              <a:t>Google Gemini 2.5 Flash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657600"/>
            <a:ext cx="2377440" cy="13716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학습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251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맑은 고딕"/>
              </a:defRPr>
            </a:pPr>
            <a:r>
              <a:t>SRS + 5축 분석 + 개인화 플랜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657600"/>
            <a:ext cx="2377440" cy="13716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3794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데이터베이스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251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맑은 고딕"/>
              </a:defRPr>
            </a:pPr>
            <a:r>
              <a:t>SQLite (better-sqlite3)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2026.02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목차 (Table of Contents)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789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533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앱의 목적, 핵심 가치, 기술 스택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47088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시스템 아키텍처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서버-클라이언트 구조, 데이터 흐름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96896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78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기술 스택 상세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Backend, Frontend, Mobile, AI 서비스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46704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284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데이터베이스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027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18개 테이블, ERD, 주요 관계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96512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782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사용자 여정 — 초기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3525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서베이, 레벨 설정, 학습 시작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19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280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프로세스 — 모의시험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10235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5문제 출제 → 답변 → AI 평가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96128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577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프로세스 — AI 피드백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852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Gemini 5축 평가, 음성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097280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0789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프로세스 — 스크립트 빌더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13533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초안 → AI 생성 → 개선 → 암기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847088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프로세스 — SRS 복습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SM-2 간격반복 알고리즘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596896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578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프로세스 — 학습 플랜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28529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약점 분석 기반 개인화 태스크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346704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3284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대시보드 &amp;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6027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5축 레이더, 트렌드, 스트릭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096512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0782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모바일 앱 (Flutter)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3525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크로스 플랫폼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846319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8280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API 설계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0235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RESTful 엔드포인트, 에러 핸들링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5596128"/>
            <a:ext cx="50292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577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전체 학습 사이클 요약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5852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종합 플로우차트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01  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OPIc(Oral Proficiency Interview - computer) 영어 말하기 시험 대비를 위한 AI 기반 종합 학습 플랫폼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5720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AI 맞춤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Google Gemini 2.5 Flash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5축 실력 분석 (문법/유창성/어휘/과제완성/내용전달)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음성 멀티모달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약점 기반 개인화 학습 플랜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383280" cy="45720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체계적 학습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103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55+ 실전 문제 은행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레벨별 답변 가이드 (IM1~IH)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651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스크립트 빌더 + AI 개선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926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SM-2 간격반복 복습 (SRS)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100개 토픽별 핵심 어휘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599" y="14630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9" y="1463040"/>
            <a:ext cx="3383280" cy="45720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멀티 플랫폼 지원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103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웹 SPA (Vanilla JS)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Flutter 모바일 앱 (iOS/Android)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2651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동일 REST API 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2926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반응형 디자인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• 오프라인 DB (SQLite)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OPIc 레벨 체계 (9단계)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NL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2024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0896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ECF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IM1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IM2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IM3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5256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IH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4681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41280" y="5440680"/>
            <a:ext cx="1005840" cy="411480"/>
          </a:xfrm>
          <a:prstGeom prst="roundRect">
            <a:avLst>
              <a:gd name="adj" fmla="val 5000"/>
            </a:avLst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02  시스템 아키텍처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13716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284C7"/>
                </a:solidFill>
                <a:latin typeface="맑은 고딕"/>
              </a:defRPr>
            </a:pPr>
            <a:r>
              <a:t>Client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  <a:latin typeface="맑은 고딕"/>
              </a:defRPr>
            </a:pPr>
            <a:r>
              <a:t>Web SPA (Vanilla JS)</a:t>
            </a:r>
          </a:p>
          <a:p>
            <a:pPr>
              <a:spcAft>
                <a:spcPts val="400"/>
              </a:spcAft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Hash 라우팅 | 10개 모듈 | Chart.js | WebAudio API | Speech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02920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8B5CF6"/>
                </a:solidFill>
                <a:latin typeface="맑은 고딕"/>
              </a:defRPr>
            </a:pPr>
            <a:r>
              <a:t>Flutter Mobile App</a:t>
            </a:r>
          </a:p>
          <a:p>
            <a:pPr>
              <a:spcAft>
                <a:spcPts val="400"/>
              </a:spcAft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Provider 패턴 | 10개 Screen | fl_chart | 5탭 내비게이션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200400" y="2514600"/>
            <a:ext cx="274320" cy="320040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8686800" y="2514600"/>
            <a:ext cx="274320" cy="320040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14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14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260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맑은 고딕"/>
              </a:defRPr>
            </a:pPr>
            <a:r>
              <a:t>Server Layer (Node.js + Express)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맑은 고딕"/>
              </a:defRPr>
            </a:pPr>
            <a:r>
              <a:t>Express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63931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라우팅, 미들웨어</a:t>
            </a:r>
            <a:br/>
            <a:r>
              <a:t>CORS, Rate Limit</a:t>
            </a:r>
            <a:br/>
            <a:r>
              <a:t>Static Files 서빙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2918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맑은 고딕"/>
              </a:defRPr>
            </a:pPr>
            <a:r>
              <a:t>REST API (15개 라우트)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63931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/api/v1/* 프리픽스</a:t>
            </a:r>
            <a:br/>
            <a:r>
              <a:t>시험, 피드백, SRS</a:t>
            </a:r>
            <a:br/>
            <a:r>
              <a:t>대시보드, 스크립트 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2918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맑은 고딕"/>
              </a:defRPr>
            </a:pPr>
            <a:r>
              <a:t>AI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363931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Gemini API 프록시</a:t>
            </a:r>
            <a:br/>
            <a:r>
              <a:t>텍스트 + 오디오 평가</a:t>
            </a:r>
            <a:br/>
            <a:r>
              <a:t>학습 플랜 생성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3200400" y="4800600"/>
            <a:ext cx="274320" cy="320040"/>
          </a:xfrm>
          <a:prstGeom prst="down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86800" y="4800600"/>
            <a:ext cx="274320" cy="32004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4800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00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HTTPS (API)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212080"/>
            <a:ext cx="5943600" cy="11887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Data Layer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577840"/>
            <a:ext cx="53949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맑은 고딕"/>
              </a:defRPr>
            </a:pPr>
            <a:r>
              <a:t>SQLite (better-sqlite3, WAL Mode)</a:t>
            </a:r>
          </a:p>
          <a:p>
            <a:pPr>
              <a:spcAft>
                <a:spcPts val="400"/>
              </a:spcAft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18개 테이블 | 동기식 API | 자동 마이그레이션 | opic_master.db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212080"/>
            <a:ext cx="4846320" cy="118872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맑은 고딕"/>
              </a:defRPr>
            </a:pPr>
            <a:r>
              <a:t>External API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0880" y="5577840"/>
            <a:ext cx="44805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55778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8B5CF6"/>
                </a:solidFill>
                <a:latin typeface="맑은 고딕"/>
              </a:defRPr>
            </a:pPr>
            <a:r>
              <a:t>Google Gemini 2.5 Flash</a:t>
            </a:r>
          </a:p>
          <a:p>
            <a:pPr>
              <a:spcAft>
                <a:spcPts val="400"/>
              </a:spcAft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텍스트 평가 | 오디오 멀티모달 분석 | 스크립트 생성/개선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03  기술 스택 상세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Backend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Node.js 20 + Express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better-sqlite3 v12.6 (동기식 SQLite)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WAL 모드 (동시 읽기 최적화)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27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node-fetch (Gemini API 호출)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850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express-rate-limit (100 req/min)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14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2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CORS 미들웨어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72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SPA 폴백 라우팅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09728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143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Web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1828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856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Vanilla JavaScript (프레임워크 없음)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2286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313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Hash 기반 SPA 라우터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27432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2770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Chart.js 4 (CDN) — 차트/레이더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2004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227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Lucide Icons (CDN)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6576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6850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WebAudio API (녹음)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114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142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Web Speech API (TTS/STT)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9120" y="4572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CSS Custom Properties (디자인 시스템)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1097280"/>
            <a:ext cx="3474720" cy="54864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1143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Mobile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0" y="1828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1856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Flutter (Dart)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2286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60" y="2313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Provider 패턴 (상태 관리)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0" y="27432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6760" y="2770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fl_chart (차트)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32004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278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5탭 BottomNavigationBar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36576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36850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AppBar 메뉴 (서베이/레벨/스크립트)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0" y="41148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4142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플랫폼별 API 주소 자동 설정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0" y="4572000"/>
            <a:ext cx="3474720" cy="384048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6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맑은 고딕"/>
              </a:defRPr>
            </a:pPr>
            <a:r>
              <a:t>Material Design 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3035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349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맑은 고딕"/>
              </a:defRPr>
            </a:pPr>
            <a:r>
              <a:t>AI Service — Google Gemini 2.5 Flash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7607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evaluateAnswers()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텍스트 답변 → 5축 점수 + 피드백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0" y="57607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analyzeVoiceRecording()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7472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오디오 → 발음/유창성/억양 분석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7607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generateScript()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질문+토픽 → AI 스크립트 초안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57607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refineScript()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기존 스크립트 → AI 개선 버전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04  데이터베이스 설계 (18 Tables)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560320" cy="41148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Core (기본)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284C7"/>
                </a:solidFill>
                <a:latin typeface="맑은 고딕"/>
              </a:defRPr>
            </a:pPr>
            <a:r>
              <a:t>survey_topics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0136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10개 OPIc 토픽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84832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284C7"/>
                </a:solidFill>
                <a:latin typeface="맑은 고딕"/>
              </a:defRPr>
            </a:pPr>
            <a:r>
              <a:t>levels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9단계 레벨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15184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334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284C7"/>
                </a:solidFill>
                <a:latin typeface="맑은 고딕"/>
              </a:defRPr>
            </a:pPr>
            <a:r>
              <a:t>user_settings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62072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현재/목표 레벨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638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284C7"/>
                </a:solidFill>
                <a:latin typeface="맑은 고딕"/>
              </a:defRPr>
            </a:pPr>
            <a:r>
              <a:t>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92424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55+ 문제 은행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75888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284C7"/>
                </a:solidFill>
                <a:latin typeface="맑은 고딕"/>
              </a:defRPr>
            </a:pPr>
            <a:r>
              <a:t>answer_guides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22776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레벨별 답변 가이드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1005840"/>
            <a:ext cx="2560320" cy="41148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Exam &amp; AI (시험)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1554480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15727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exam_sessions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180136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모의시험 세션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2084832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103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exam_answers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233172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개별 답변 저장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615184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26334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ai_feedbacks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2862072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AI 평가 결과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145536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1638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skill_assessments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392424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5축 점수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3675888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voice_recordings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3922776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음성 녹음 데이터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1840" y="4206240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42245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voice_analyses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445312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음성 AI 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1005840"/>
            <a:ext cx="2560320" cy="41148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Script &amp; SRS (학습)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1554480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15727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맑은 고딕"/>
              </a:defRPr>
            </a:pPr>
            <a:r>
              <a:t>scripts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180136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답변 스크립트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2084832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2103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맑은 고딕"/>
              </a:defRPr>
            </a:pPr>
            <a:r>
              <a:t>script_practices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233172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스크립트 연습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2615184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26334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맑은 고딕"/>
              </a:defRPr>
            </a:pPr>
            <a:r>
              <a:t>sentence_practices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2862072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문장 연습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0" y="3145536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31638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맑은 고딕"/>
              </a:defRPr>
            </a:pPr>
            <a:r>
              <a:t>srs_items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2240" y="3392424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SRS 플래시카드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3675888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맑은 고딕"/>
              </a:defRPr>
            </a:pPr>
            <a:r>
              <a:t>srs_reviews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3922776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복습 이력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26880" y="1005840"/>
            <a:ext cx="2560320" cy="41148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832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Plan &amp; Track (추적)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326880" y="1554480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18320" y="15727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study_plans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18320" y="1801368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일일 학습 계획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326880" y="2084832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18320" y="2103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study_tasks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18320" y="233172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계획 내 태스크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2615184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18320" y="26334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study_sessions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2862072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학습 시간 추적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26880" y="3145536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18320" y="31638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daily_attendance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18320" y="3392424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출석 체크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26880" y="3675888"/>
            <a:ext cx="25603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1832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point_history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3922776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포인트 이력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4846320"/>
            <a:ext cx="11247120" cy="16459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핵심 데이터 관계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  exam_sessions  ←  exam_answers  →  ai_feedbacks  →  skill_assessments    (시험 → 답변 → AI 평가 → 실력 추적)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" y="5532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  questions  →  answer_guides  →  srs_items  →  srs_reviews    (문제 → 가이드 → 플래시카드 → 복습 이력)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5852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  study_plans  →  study_tasks    (일일 계획 → 개별 태스크)  |  scripts  →  script_practices    (스크립트 → 연습 기록)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  JSON 배열 필드: strengths, improvements, key_phrases, filler_words → DB에 JSON 문자열 저장, 프론트에서 파싱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05  사용자 여정 — 초기 설정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188720"/>
            <a:ext cx="411480" cy="4114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097280"/>
            <a:ext cx="3200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188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서베이 (토픽 선택)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544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10개 OPIc 토픽 중 3~5개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자기소개  • 집/이웃  • 여가활동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여행  • 스포츠  • 음악  • 요리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40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기술  • 교육  • 직장/업무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688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554480" y="26974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25+ 전략 팁 제공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9260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(조합 유리한 토픽 추천)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54880" y="2103120"/>
            <a:ext cx="54864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0" y="118872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09728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188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맑은 고딕"/>
              </a:defRPr>
            </a:pPr>
            <a:r>
              <a:t>레벨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현재 레벨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830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(NL ~ AL 9단계)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목표 레벨 설정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688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(예: IM2 → IH)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레벨에 따라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54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답변 가이드 난이도 조절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52560" y="2103120"/>
            <a:ext cx="54864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4080" y="118872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1097280"/>
            <a:ext cx="1371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0" y="11887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학습 시작!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15544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학습 플랜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17830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자동 생성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0116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10515600" y="22402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SRS 시드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24688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자동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26974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515600" y="29260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문제은행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31546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접근 가능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65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맑은 고딕"/>
              </a:defRPr>
            </a:pPr>
            <a:r>
              <a:t>일일 학습 사이클 (Daily Learning Cycle)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학습 플랜</a:t>
            </a:r>
            <a:br/>
            <a:r>
              <a:t>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1168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SRS</a:t>
            </a:r>
            <a:br/>
            <a:r>
              <a:t>복습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문제</a:t>
            </a:r>
            <a:br/>
            <a:r>
              <a:t>연습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스크립트</a:t>
            </a:r>
            <a:br/>
            <a:r>
              <a:t>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어휘</a:t>
            </a:r>
            <a:br/>
            <a:r>
              <a:t>학습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6384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모의</a:t>
            </a:r>
            <a:br/>
            <a:r>
              <a:t>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AI</a:t>
            </a:r>
            <a:br/>
            <a:r>
              <a:t>피드백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47091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0" y="4297680"/>
            <a:ext cx="1188720" cy="11887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대시보드</a:t>
            </a:r>
            <a:br/>
            <a:r>
              <a:t>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↺  약점 분석 결과가 다음 날 학습 플랜에 자동 반영 → 지속적 개선 사이클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06  핵심 프로세스 — 모의시험</a:t>
            </a:r>
          </a:p>
        </p:txBody>
      </p:sp>
      <p:sp>
        <p:nvSpPr>
          <p:cNvPr id="4" name="Oval 3"/>
          <p:cNvSpPr/>
          <p:nvPr/>
        </p:nvSpPr>
        <p:spPr>
          <a:xfrm>
            <a:off x="1051560" y="1097280"/>
            <a:ext cx="411480" cy="4114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19456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284C7"/>
                </a:solidFill>
                <a:latin typeface="맑은 고딕"/>
              </a:defRPr>
            </a:pPr>
            <a:r>
              <a:t>시험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POST /exam/start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선택한 토픽에서 5문제 자동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4개 서베이/콤보 + 1개 롤플레이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626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난이도: 설정된 레벨 기준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68880" y="3200400"/>
            <a:ext cx="13716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83280" y="10972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645920"/>
            <a:ext cx="219456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81"/>
                </a:solidFill>
                <a:latin typeface="맑은 고딕"/>
              </a:defRPr>
            </a:pPr>
            <a:r>
              <a:t>답변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011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타이핑 또는 음성 녹음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서베이 문제: 90초 제한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롤플레이: 120초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626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실시간 단어 수 카운트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5526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목표: 60~130+ 단어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00600" y="3200400"/>
            <a:ext cx="137160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5000" y="10972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0" y="1645920"/>
            <a:ext cx="219456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맑은 고딕"/>
              </a:defRPr>
            </a:pPr>
            <a:r>
              <a:t>TTS 질문 읽기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011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Web Speech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질문 영어 원문 TTS 재생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실전 시험 환경 시뮬레이션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9626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속도 조절 가능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132320" y="3200400"/>
            <a:ext cx="1371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19" y="109728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79" y="1645920"/>
            <a:ext cx="219456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19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B5CF6"/>
                </a:solidFill>
                <a:latin typeface="맑은 고딕"/>
              </a:defRPr>
            </a:pPr>
            <a:r>
              <a:t>결과 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19" y="2011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POST /exam/sessions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39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exam_sessions 테이블에 세션 생성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39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exam_answers에 5개 답변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39" y="29626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답변 텍스트 + 단어 수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39" y="325526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음성 녹음 시 Base64 저장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464039" y="3200400"/>
            <a:ext cx="13716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78440" y="109728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1645920"/>
            <a:ext cx="219456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F4444"/>
                </a:solidFill>
                <a:latin typeface="맑은 고딕"/>
              </a:defRPr>
            </a:pPr>
            <a:r>
              <a:t>AI 평가 요청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2011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POST /feedback/evaluate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3836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Gemini API에 5개 답변 전송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5축 점수 + 예측 레벨 반환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9626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강점 3개 + 개선점 3개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325526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skill_assessments 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5394960"/>
            <a:ext cx="11612880" cy="11887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440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시험 구성 (5문제)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80644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Q1: 서베이</a:t>
            </a:r>
            <a:br/>
            <a:r>
              <a:t>일상 관련 질문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0" y="580644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Q2: 서베이</a:t>
            </a:r>
            <a:br/>
            <a:r>
              <a:t>취미/관심사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0" y="580644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Q3: 콤보</a:t>
            </a:r>
            <a:br/>
            <a:r>
              <a:t>비교/경험 질문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0" y="580644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Q4: 콤보</a:t>
            </a:r>
            <a:br/>
            <a:r>
              <a:t>습관/선호 질문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580644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Q5: 롤플레이</a:t>
            </a:r>
            <a:br/>
            <a:r>
              <a:t>상황극 (120초)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07  핵심 프로세스 — AI 피드백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5축 실력 평가 (Skill Assessment)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4663440" cy="5943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Grammar (문법)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문법 정확성, 시제 일치, 구문 복잡도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[0~100]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4663440" cy="5943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2257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Fluency (유창성)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860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자연스러운 발화, 필러 최소화, 연결어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5786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[0~100]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62656"/>
            <a:ext cx="4663440" cy="5943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8094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Vocabulary (어휘)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3697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어휘 다양성, 적절한 표현, 콜로케이션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2369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[0~100]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21024"/>
            <a:ext cx="4663440" cy="5943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93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Task Completion (과제완성)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9534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질문에 대한 완전한 답변,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[0~100]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79392"/>
            <a:ext cx="4663440" cy="5943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976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Content Delivery (내용전달)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5371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논리적 흐름, 구체적 예시, 설득력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5537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[0~100]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1005840"/>
            <a:ext cx="59436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음성 분석 (Voice Analysis — Multimodal)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164592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166420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발음 점수 (Pronunciation)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187452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음소 정확도, 강세/약세 패턴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214884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0" y="216712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유창성 점수 (Fluency)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7744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속도, 끊김, 자연스러움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265176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267004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억양 점수 (Intonation)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288036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문장 억양 패턴, 감정 표현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315468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317296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발화 속도 (Pace WPM)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338328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분당 단어 수 측정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65760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367588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필러 워드 (Filler Words)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88620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um, uh, like 등 불필요한 단어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416052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417880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포즈 카운트 (Pauses)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438912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부자연스러운 멈춤 횟수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4663440"/>
            <a:ext cx="55778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0" y="468172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맑은 고딕"/>
              </a:defRPr>
            </a:pPr>
            <a:r>
              <a:t>명확도 (Clarity)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892040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종합적 음성 명확도 점수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303520"/>
            <a:ext cx="11247120" cy="11887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49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AI 평가 데이터 흐름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66928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답변 수집</a:t>
            </a:r>
            <a:br/>
            <a:r>
              <a:t>(텍스트/음성)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17520" y="566928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Gemini API</a:t>
            </a:r>
            <a:br/>
            <a:r>
              <a:t>전송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94960" y="566928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5축 점수</a:t>
            </a:r>
            <a:br/>
            <a:r>
              <a:t>산출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0" y="566928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강점/개선점</a:t>
            </a:r>
            <a:br/>
            <a:r>
              <a:t>생성 (한국어)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9840" y="566928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DB 저장</a:t>
            </a:r>
            <a:br/>
            <a:r>
              <a:t>+ 대시보드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2651760" y="5852160"/>
            <a:ext cx="3657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ight Arrow 56"/>
          <p:cNvSpPr/>
          <p:nvPr/>
        </p:nvSpPr>
        <p:spPr>
          <a:xfrm>
            <a:off x="5029200" y="5852160"/>
            <a:ext cx="3657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ight Arrow 57"/>
          <p:cNvSpPr/>
          <p:nvPr/>
        </p:nvSpPr>
        <p:spPr>
          <a:xfrm>
            <a:off x="7406640" y="5852160"/>
            <a:ext cx="3657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ight Arrow 58"/>
          <p:cNvSpPr/>
          <p:nvPr/>
        </p:nvSpPr>
        <p:spPr>
          <a:xfrm>
            <a:off x="9784080" y="5852160"/>
            <a:ext cx="3657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08  핵심 프로세스 — 스크립트 빌더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맑은 고딕"/>
              </a:defRPr>
            </a:pPr>
            <a:r>
              <a:t>답변 스크립트를 작성하고 AI로 개선한 뒤, 체계적으로 암기하는 프로세스</a:t>
            </a:r>
          </a:p>
        </p:txBody>
      </p:sp>
      <p:sp>
        <p:nvSpPr>
          <p:cNvPr id="5" name="Oval 4"/>
          <p:cNvSpPr/>
          <p:nvPr/>
        </p:nvSpPr>
        <p:spPr>
          <a:xfrm>
            <a:off x="1051560" y="1188720"/>
            <a:ext cx="411480" cy="41148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73736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284C7"/>
                </a:solidFill>
                <a:latin typeface="맑은 고딕"/>
              </a:defRPr>
            </a:pPr>
            <a:r>
              <a:t>초안 작성</a:t>
            </a:r>
            <a:br/>
            <a:r>
              <a:t>(Draft)</a:t>
            </a:r>
            <a:br/>
            <a:br/>
            <a:r>
              <a:t>사용자가 질문에 대한</a:t>
            </a:r>
            <a:br/>
            <a:r>
              <a:t>답변 초안 직접 작성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68880" y="2743200"/>
            <a:ext cx="13716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3280" y="118872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73736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  <a:latin typeface="맑은 고딕"/>
              </a:defRPr>
            </a:pPr>
            <a:r>
              <a:t>AI 생성</a:t>
            </a:r>
            <a:br/>
            <a:r>
              <a:t>(Generate)</a:t>
            </a:r>
            <a:br/>
            <a:br/>
            <a:r>
              <a:t>POST /scripts/generate</a:t>
            </a:r>
            <a:br/>
            <a:r>
              <a:t>Gemini가 구조화된</a:t>
            </a:r>
            <a:br/>
            <a:r>
              <a:t>모범 스크립트 생성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00600" y="2743200"/>
            <a:ext cx="137160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15000" y="118872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73736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AI 개선</a:t>
            </a:r>
            <a:br/>
            <a:r>
              <a:t>(Refine)</a:t>
            </a:r>
            <a:br/>
            <a:br/>
            <a:r>
              <a:t>POST /scripts/:id/refine</a:t>
            </a:r>
            <a:br/>
            <a:r>
              <a:t>기존 스크립트를</a:t>
            </a:r>
            <a:br/>
            <a:r>
              <a:t>AI가 개선·보완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743200"/>
            <a:ext cx="13716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19" y="118872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79" y="173736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8B5CF6"/>
                </a:solidFill>
                <a:latin typeface="맑은 고딕"/>
              </a:defRPr>
            </a:pPr>
            <a:r>
              <a:t>암기 모드</a:t>
            </a:r>
            <a:br/>
            <a:r>
              <a:t>(Memorize)</a:t>
            </a:r>
            <a:br/>
            <a:br/>
            <a:r>
              <a:t>플래시카드 연습</a:t>
            </a:r>
            <a:br/>
            <a:r>
              <a:t>앞면: 질문</a:t>
            </a:r>
            <a:br/>
            <a:r>
              <a:t>뒷면: 스크립트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464039" y="2743200"/>
            <a:ext cx="13716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78440" y="118872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73736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  <a:latin typeface="맑은 고딕"/>
              </a:defRPr>
            </a:pPr>
            <a:r>
              <a:t>마스터</a:t>
            </a:r>
            <a:br/>
            <a:r>
              <a:t>(Mastered)</a:t>
            </a:r>
            <a:br/>
            <a:br/>
            <a:r>
              <a:t>스크립트 완전 숙지</a:t>
            </a:r>
            <a:br/>
            <a:r>
              <a:t>SRS에 등록하여</a:t>
            </a:r>
            <a:br/>
            <a:r>
              <a:t>장기 기억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스크립트 연습 방법 (3가지)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54880"/>
            <a:ext cx="34747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284C7"/>
                </a:solidFill>
                <a:latin typeface="맑은 고딕"/>
              </a:defRPr>
            </a:pPr>
            <a:r>
              <a:t>Flashcard 연습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06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질문-답변 플래시카드</a:t>
            </a:r>
            <a:br/>
            <a:r>
              <a:t>반복 노출 → 자동 암기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754880"/>
            <a:ext cx="34747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맑은 고딕"/>
              </a:defRPr>
            </a:pPr>
            <a:r>
              <a:t>Speaking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1206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스크립트를 보며 음성 녹음</a:t>
            </a:r>
            <a:br/>
            <a:r>
              <a:t>AI 발음·유창성 비교 평가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754880"/>
            <a:ext cx="34747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Typing 연습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51206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스크립트를 보지 않고 타이핑</a:t>
            </a:r>
            <a:br/>
            <a:r>
              <a:t>정확도 확인 → 약점 파악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맑은 고딕"/>
              </a:defRPr>
            </a:pPr>
            <a:r>
              <a:t>문장 단위 연습: 스크립트를 문장별로 분리 → 녹음 → AI가 발음 등급 부여 (AL/IH/IM/IL/NM)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09  핵심 프로세스 — SRS 간격반복 복습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맑은 고딕"/>
              </a:defRPr>
            </a:pPr>
            <a:r>
              <a:t>SM-2 간격반복 알고리즘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0 (완전 망각) ~ 5 (완벽 기억)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ease_factor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난이도 계수, 초기값 2.5, 최소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interval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복습 간격 (일 단위)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repetitions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성공 반복 횟수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핵심 공식: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7432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맑은 고딕"/>
              </a:defRPr>
            </a:pPr>
            <a:r>
              <a:t>quality &lt;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175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→ 리셋: repetitions=0, interval=1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918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맑은 고딕"/>
              </a:defRPr>
            </a:pPr>
            <a:r>
              <a:t>quality &gt;=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9184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→ interval × ease_factor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5661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EF 업데이트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5661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EF' = EF + (0.1 - (5-q)×(0.08+(5-q)×0.02))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005840"/>
            <a:ext cx="548640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284C7"/>
                </a:solidFill>
                <a:latin typeface="맑은 고딕"/>
              </a:defRPr>
            </a:pPr>
            <a:r>
              <a:t>SRS 학습 프로세스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645920"/>
            <a:ext cx="5120640" cy="640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6642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시드 생성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166420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POST /srs/seed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20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답변 가이드의 key_phrases에서</a:t>
            </a:r>
            <a:br/>
            <a:r>
              <a:t>SRS 플래시카드 자동 생성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359152"/>
            <a:ext cx="5120640" cy="640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77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오늘 복습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377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GET /srs/due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6334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오늘 복습할 카드 목록 조회</a:t>
            </a:r>
            <a:br/>
            <a:r>
              <a:t>(next_review &lt;= today)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072384"/>
            <a:ext cx="5120640" cy="640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0906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맑은 고딕"/>
              </a:defRPr>
            </a:pPr>
            <a:r>
              <a:t>카드 복습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30906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플래시카드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34670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영어 핵심 표현 제시 →</a:t>
            </a:r>
            <a:br/>
            <a:r>
              <a:t>의미/사용법 기억 확인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785616"/>
            <a:ext cx="5120640" cy="640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80390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맑은 고딕"/>
              </a:defRPr>
            </a:pPr>
            <a:r>
              <a:t>평가 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38039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POST /srs/review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5993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0~5 자기 평가 →</a:t>
            </a:r>
            <a:br/>
            <a:r>
              <a:t>SM-2 알고리즘으로 다음 복습일 계산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8912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복습 간격 예시 (quality=4 연속 시)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첫 학습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1일 후 복습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5166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6888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6032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032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1차 복습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6일 후 복습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166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8912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056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056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2차 복습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15일 후 복습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5166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0936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3차 복습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38일 후 복습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166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2960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2104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4차 복습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95일 후 복습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60" y="5166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149840" y="4892040"/>
            <a:ext cx="1737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0" y="491947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맑은 고딕"/>
              </a:defRPr>
            </a:pPr>
            <a:r>
              <a:t>Day 155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41280" y="514807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  <a:latin typeface="맑은 고딕"/>
              </a:defRPr>
            </a:pPr>
            <a:r>
              <a:t>5차 복습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41280" y="53492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→ 장기 기억 정착!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맑은 고딕"/>
              </a:defRPr>
            </a:pPr>
            <a:r>
              <a:t>GET /srs/stats: 총 카드 수, 오늘 복습 수, 숙달 카드 수, 평균 ease_factor 등 통계 제공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10  핵심 프로세스 — 학습 플랜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3035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맑은 고딕"/>
              </a:defRPr>
            </a:pPr>
            <a:r>
              <a:t>약점 분석 (Weakness Analysis)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최근 시험 결과에서 5축 점수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80점 미만 영역 = 약점으로 식별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66544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가장 낮은 점수 영역 우선 순위 부여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2576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최근 3~5회 시험 평균으로 추세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취약 문제 유형 (서베이/콤보/롤플레이) 식별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SRS 복습 필요 항목 수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미완료 스크립트 목록 체크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005840"/>
            <a:ext cx="56692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자동 생성 태스크 유형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srs_review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5361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SRS 복습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5361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오늘 복습할 플래시카드 학습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7452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skill_practice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18562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스킬 연습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5623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약점 영역 집중 연습 (문법/유창성 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19456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exam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17627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모의 시험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1762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정기적 실전 시험 (주 2~3회 권장)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1460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script_review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49631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스크립트 복습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49631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작성한 스크립트 암기 연습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83464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question_review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8163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문제 복습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81635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취약 토픽/유형 문제 재학습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15468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vocabulary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13639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맑은 고딕"/>
              </a:defRPr>
            </a:pPr>
            <a:r>
              <a:t>어휘 학습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136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토픽별 핵심 표현 100개 학습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023360"/>
            <a:ext cx="11247120" cy="25603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일일 학습 플랜 자동 생성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572000"/>
            <a:ext cx="210312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617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GET</a:t>
            </a:r>
            <a:br/>
            <a:r>
              <a:t>/study-plan/today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303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오늘 플랜 조회</a:t>
            </a:r>
            <a:br/>
            <a:r>
              <a:t>(없으면 자동 생성)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560320" y="5212080"/>
            <a:ext cx="18288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743200" y="4572000"/>
            <a:ext cx="210312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4617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맑은 고딕"/>
              </a:defRPr>
            </a:pPr>
            <a:r>
              <a:t>약점 분석</a:t>
            </a:r>
            <a:br/>
            <a:r>
              <a:t>getWeaknessAnalysis()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303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최근 시험 데이터</a:t>
            </a:r>
            <a:br/>
            <a:r>
              <a:t>5축 점수 분석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846320" y="5212080"/>
            <a:ext cx="1828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29200" y="4572000"/>
            <a:ext cx="210312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617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  <a:latin typeface="맑은 고딕"/>
              </a:defRPr>
            </a:pPr>
            <a:r>
              <a:t>태스크 생성</a:t>
            </a:r>
            <a:br/>
            <a:r>
              <a:t>generateDailyPlan()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5303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약점 기반</a:t>
            </a:r>
            <a:br/>
            <a:r>
              <a:t>5~8개 태스크 구성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7132320" y="5212080"/>
            <a:ext cx="182880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315200" y="4572000"/>
            <a:ext cx="210312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4617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B5CF6"/>
                </a:solidFill>
                <a:latin typeface="맑은 고딕"/>
              </a:defRPr>
            </a:pPr>
            <a:r>
              <a:t>우선순위 배정</a:t>
            </a:r>
            <a:br/>
            <a:r>
              <a:t>priority: 1~5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5303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긴급도 기반</a:t>
            </a:r>
            <a:br/>
            <a:r>
              <a:t>순서 자동 배정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418320" y="5212080"/>
            <a:ext cx="18288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4572000"/>
            <a:ext cx="210312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2640" y="4617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F4444"/>
                </a:solidFill>
                <a:latin typeface="맑은 고딕"/>
              </a:defRPr>
            </a:pPr>
            <a:r>
              <a:t>학습 진행</a:t>
            </a:r>
            <a:br/>
            <a:r>
              <a:t>PUT /tasks/:id/complete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5303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태스크 완료 체크</a:t>
            </a:r>
            <a:br/>
            <a:r>
              <a:t>진행률 실시간 업데이트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11  대시보드 &amp; 분석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265176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2651760" cy="41148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종합 통계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GET /dashboard/stats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013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총 시험 횟수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482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평균 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951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최고/최저 점수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420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연속 학습일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총 학습 시간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005840"/>
            <a:ext cx="265176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005840"/>
            <a:ext cx="2651760" cy="41148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점수 트렌드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554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GET /dashboard/trends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8013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5축 점수 시계열 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0482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Line Chart (Chart.js)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2951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주간/월간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5420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성장률 자동 계산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목표 달성도 표시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005840"/>
            <a:ext cx="265176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1005840"/>
            <a:ext cx="2651760" cy="41148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5축 스킬 레이더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1554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GET /dashboard/skills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8013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이번 주 vs 지난 주 비교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0482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Radar Chart (Chart.js)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2951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각 축별 성장/하락 표시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420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약점 영역 하이라이트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레벨별 기준선 표시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1005840"/>
            <a:ext cx="265176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1005840"/>
            <a:ext cx="2651760" cy="41148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103327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학습 스트릭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1554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GET /dashboard/streak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18013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연속 학습일 캘린더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20482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일일 체크인 히트맵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2951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주간 학습 요약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25420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포인트 누적 현황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  배지/보상 시스템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80560"/>
            <a:ext cx="11430000" cy="201168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284C7"/>
                </a:solidFill>
                <a:latin typeface="맑은 고딕"/>
              </a:defRPr>
            </a:pPr>
            <a:r>
              <a:t>GET /dashboard/weekly — 주간 학습 요약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93776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983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이번 주 시험 횟수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2395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exam_count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97679" y="493776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34839" y="4983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이번 주 평균 점수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39" y="52395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avg_score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19" y="493776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983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이번 주 학습 시간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83879" y="52395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study_minutes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66928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715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완료 태스크 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9710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tasks_completed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97679" y="566928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4839" y="5715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SRS 복습 카드 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4839" y="59710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srs_reviewed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46719" y="566928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83879" y="5715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맑은 고딕"/>
              </a:defRPr>
            </a:pPr>
            <a:r>
              <a:t>스크립트 연습 횟수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3879" y="59710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key: script_practices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12  모바일 앱 &amp; API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Flutter 모바일 앱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914400" cy="32004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학습플랜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554480"/>
            <a:ext cx="914400" cy="32004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문제은행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554480"/>
            <a:ext cx="914400" cy="32004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모의시험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554480"/>
            <a:ext cx="914400" cy="32004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554480"/>
            <a:ext cx="914400" cy="32004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대시보드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맑은 고딕"/>
              </a:defRPr>
            </a:pPr>
            <a:r>
              <a:t>↑ 5탭 BottomNavigationBar  |  AppBar 메뉴: 서베이, 레벨, 스크립트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Provider 패턴 (상태 관리)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ApiService: get/post/put/delete/postLarge 정적 메서드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플랫폼별 API 주소: Android(10.0.2.2) / iOS(localhost)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fl_chart: 레이더 차트, 라인 차트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Material Design 3 + AppColors ThemeExtension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맑은 고딕"/>
              </a:defRPr>
            </a:pPr>
            <a:r>
              <a:t>• 10개 Screen + 6개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284C7"/>
                </a:solidFill>
                <a:latin typeface="맑은 고딕"/>
              </a:defRPr>
            </a:pPr>
            <a:r>
              <a:t>REST API 설계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5544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프리픽스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1554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/api/v1/* (모든 엔드포인트)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79222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17922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현재 미구현 (단일 사용자)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0299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Rate 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100 requests / minute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2677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에러 형식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2677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{ error: true, code, message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50545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점수 범위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50545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0~100 정수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743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JSON 배열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27432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DB에 JSON 문자열 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809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SPA 폴백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98094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app.get("*") → index.html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186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CORS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2186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모바일 앱 접근 허용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023360"/>
            <a:ext cx="11247120" cy="25603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15개 REST API 라우트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056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507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/topics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토픽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34640" y="448056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0" y="4507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/levels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레벨 조회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0" y="448056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4507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/settings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설정 관리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06640" y="448056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0" y="4507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/questions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문제 조회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2640" y="448056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0" y="4507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/exam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0" y="47365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시험 관리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12064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1480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/feedback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3766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AI 평가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34640" y="512064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26080" y="51480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/dashboard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26080" y="53766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통계/분석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20640" y="512064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12080" y="51480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/scripts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53766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스크립트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06640" y="512064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51480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/study-plan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8080" y="53766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학습 플랜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92640" y="512064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84080" y="51480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37667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간격반복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8640" y="576072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5788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/voice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" y="60167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음성 분석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834640" y="576072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26080" y="5788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/vocabulary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26080" y="60167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어휘 학습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120640" y="576072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5788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/attendance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60167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출석 체크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06640" y="576072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80" y="5788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/study-sessions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80" y="60167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학습 시간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692640" y="5760720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84080" y="57881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맑은 고딕"/>
              </a:defRPr>
            </a:pPr>
            <a:r>
              <a:t>/sentence-practice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84080" y="601675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맑은 고딕"/>
              </a:defRPr>
            </a:pPr>
            <a:r>
              <a:t>문장 연습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맑은 고딕"/>
              </a:defRPr>
            </a:pPr>
            <a:r>
              <a:t>13  전체 학습 사이클 (End-to-End Flow)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2103120" cy="45720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초기 설정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토픽 선택 (3~5개)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현재/목표 레벨 설정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SRS 시드 자동 생성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68880" y="2194560"/>
            <a:ext cx="50292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005840"/>
            <a:ext cx="2103120" cy="45720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02412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23444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학습 입력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155448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645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문제은행 학습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답변 가이드 참고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194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어휘 100개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468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스크립트 작성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709160" y="2194560"/>
            <a:ext cx="502920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1005840"/>
            <a:ext cx="2103120" cy="45720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02412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PRACTICE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123444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연습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155448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1645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플래시카드 (SRS)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스크립트 암기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194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문장 단위 발음 연습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468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타이핑 연습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949440" y="2194560"/>
            <a:ext cx="50292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86600" y="1005840"/>
            <a:ext cx="2103120" cy="457200"/>
          </a:xfrm>
          <a:prstGeom prst="roundRect">
            <a:avLst>
              <a:gd name="adj" fmla="val 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102412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23444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모의시험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6600" y="155448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1645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5문제 출제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텍스트/음성 답변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2194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타이머 + 단어 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468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TTS 질문 재생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189720" y="2194560"/>
            <a:ext cx="502920" cy="274320"/>
          </a:xfrm>
          <a:prstGeom prst="righ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326880" y="1005840"/>
            <a:ext cx="2103120" cy="45720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102412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ANALYZE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123444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AI 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155448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18320" y="1645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5축 실력 평가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음성 멀티모달 분석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2194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예측 레벨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2468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• 강점/개선점 피드백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3566160"/>
            <a:ext cx="11430000" cy="4572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593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맑은 고딕"/>
              </a:defRPr>
            </a:pPr>
            <a:r>
              <a:t>← ← ← ← ←  분석 결과 → 약점 식별 → 다음 날 학습 플랜 자동 생성 → 약점 집중 학습  → → → → 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297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맑은 고딕"/>
              </a:defRPr>
            </a:pPr>
            <a:r>
              <a:t>기술적 데이터 흐름 (Technical Data Flow)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Client</a:t>
            </a:r>
            <a:br/>
            <a:r>
              <a:t>(Web/Mobile)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2194560" y="5029200"/>
            <a:ext cx="228600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423160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HTTP</a:t>
            </a:r>
            <a:br/>
            <a:r>
              <a:t>Request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4160520" y="5029200"/>
            <a:ext cx="2286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89120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Express</a:t>
            </a:r>
            <a:br/>
            <a:r>
              <a:t>Router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6126480" y="5029200"/>
            <a:ext cx="2286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55079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Service</a:t>
            </a:r>
            <a:br/>
            <a:r>
              <a:t>Logic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8092439" y="5029200"/>
            <a:ext cx="22860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21040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SQLite</a:t>
            </a:r>
            <a:br/>
            <a:r>
              <a:t>DB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058400" y="5029200"/>
            <a:ext cx="2286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287000" y="475488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Gemini</a:t>
            </a:r>
            <a:br/>
            <a:r>
              <a:t>API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5760" y="5852160"/>
            <a:ext cx="11430000" cy="73152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보안 &amp; 품질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맑은 고딕"/>
              </a:defRPr>
            </a:pPr>
            <a:r>
              <a:t>XSS 방지: innerHTML 금지, createElement + textContent만 사용  |  Rate Limiting: 100 req/min  |  에러 핸들링: 표준 에러 응답 형식  |  WAL Mode: 동시 읽기 최적화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103120"/>
            <a:ext cx="12191695" cy="457200"/>
          </a:xfrm>
          <a:prstGeom prst="roundRect">
            <a:avLst>
              <a:gd name="adj" fmla="val 5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OPIc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0F2FE"/>
                </a:solidFill>
                <a:latin typeface="맑은 고딕"/>
              </a:defRPr>
            </a:pPr>
            <a:r>
              <a:t>AI 기반 OPIc 종합 학습 플랫폼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55+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실전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DB 테이블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API 라우트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19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학습 모듈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OPIc 레벨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3017520"/>
            <a:ext cx="1737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78440" y="31089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맑은 고딕"/>
              </a:defRPr>
            </a:pPr>
            <a:r>
              <a:t>평가 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75488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Node.js + Express + SQLite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475488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Vanilla JS SPA (No Framework)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75488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Flutter 모바일 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1600" y="525780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Google Gemini 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525780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SM-2 간격반복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525780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  <a:latin typeface="맑은 고딕"/>
              </a:defRPr>
            </a:pPr>
            <a:r>
              <a:t>5축 실력 분석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Thank You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