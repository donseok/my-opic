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B82F6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8B5CF6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2926080" y="914400"/>
            <a:ext cx="3291840" cy="347472"/>
          </a:xfrm>
          <a:prstGeom prst="roundRect">
            <a:avLst>
              <a:gd fmla="val 21053" name="adj"/>
            </a:avLst>
          </a:prstGeom>
          <a:solidFill>
            <a:srgbClr val="3B82F6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2926080" y="91440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ADVANCED COURSE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바이브 코딩 심화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AI와 함께 사내 도구 만들기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840480" y="3063240"/>
            <a:ext cx="146304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14400" y="33375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Claude Code CLI  ·  Google Antigravity  ·  MCP  ·  SQLite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사내 IT 개발자 심화 과정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과정 개요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오늘 3시간 동안 무엇을 배우고, 무엇을 만들 수 있게 되는지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1554480"/>
            <a:ext cx="19202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457200" y="1554480"/>
            <a:ext cx="19202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097280" y="18745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872" y="203911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457200" y="26517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대상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94360" y="2926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주니어 개발자 20명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560320" y="1554480"/>
            <a:ext cx="19202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2560320" y="1554480"/>
            <a:ext cx="19202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200400" y="18745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4992" y="203911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2560320" y="26517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시간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697480" y="2926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3시간 (45분 × 3교시)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663440" y="1554480"/>
            <a:ext cx="19202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663440" y="1554480"/>
            <a:ext cx="19202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303520" y="18745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68112" y="203911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4663440" y="26517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환경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800600" y="2926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Windows 11 + 개인 노트북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766560" y="1554480"/>
            <a:ext cx="19202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766560" y="1554480"/>
            <a:ext cx="19202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7406640" y="187452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71232" y="203911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6766560" y="265176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903720" y="2926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DB 연결된 웹앱 PoC 만들기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3B82F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" y="40690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/>
          <p:nvPr/>
        </p:nvSpPr>
        <p:spPr>
          <a:xfrm>
            <a:off x="1143000" y="39776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기본 과정에서 배운 내용을 바탕으로, 오늘은 실제 프로젝트를 만들 수 있는 수준으로 올라갑니다.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오늘의 여정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3교시 구성, 마지막 시간에 개별 실습으로 마무리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" y="1463040"/>
            <a:ext cx="64008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57276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1188720" y="14630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rPr>
              <a:t>1교시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2103120" y="146304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45분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926080" y="146304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Claude Code 실전 + DB 연결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583680" y="14630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CLAUDE.md, 프롬프트 패턴, MCP, SQLite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828800" y="2212848"/>
            <a:ext cx="5486400" cy="320040"/>
          </a:xfrm>
          <a:prstGeom prst="rect">
            <a:avLst/>
          </a:prstGeom>
          <a:solidFill>
            <a:srgbClr val="E2E8F0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1828800" y="22128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☕ 15분 휴식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7200" y="2779776"/>
            <a:ext cx="8229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57200" y="2779776"/>
            <a:ext cx="64008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88950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1188720" y="2779776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6B6D4"/>
                </a:solidFill>
                <a:latin typeface="Trebuchet MS"/>
                <a:ea typeface="Trebuchet MS"/>
                <a:cs typeface="Trebuchet MS"/>
                <a:sym typeface="Trebuchet MS"/>
              </a:rPr>
              <a:t>2교시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103120" y="2779776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45분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2926080" y="2779776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안티그래비티 + 프론트-백 통합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583680" y="27797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웹 UI 생성, API 연결, 활용 사례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828800" y="3529584"/>
            <a:ext cx="5486400" cy="320040"/>
          </a:xfrm>
          <a:prstGeom prst="rect">
            <a:avLst/>
          </a:prstGeom>
          <a:solidFill>
            <a:srgbClr val="E2E8F0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1828800" y="3529584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☕ 15분 휴식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57200" y="4096512"/>
            <a:ext cx="8229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457200" y="4096512"/>
            <a:ext cx="64008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42062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/>
          <p:nvPr/>
        </p:nvSpPr>
        <p:spPr>
          <a:xfrm>
            <a:off x="1188720" y="409651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Trebuchet MS"/>
                <a:ea typeface="Trebuchet MS"/>
                <a:cs typeface="Trebuchet MS"/>
                <a:sym typeface="Trebuchet MS"/>
              </a:rPr>
              <a:t>3교시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2103120" y="4096512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45분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2926080" y="4096512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개별 실습: 점심 투표 앱 만들기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583680" y="409651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1~2교시 학습 내용 종합 실습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28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3B82F6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57200" y="1371600"/>
            <a:ext cx="1645920" cy="347472"/>
          </a:xfrm>
          <a:prstGeom prst="roundRect">
            <a:avLst>
              <a:gd fmla="val 21053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57200" y="13716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1교시  ·  45분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57200" y="19202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Claude Code 실전 워크플로우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+ DB 연결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57200" y="310896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CLAUDE.md  ·  프롬프트 패턴  ·  MCP  ·  SQLite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57200" y="320040"/>
            <a:ext cx="777240" cy="292608"/>
          </a:xfrm>
          <a:prstGeom prst="roundRect">
            <a:avLst>
              <a:gd fmla="val 15625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1교시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CLAUDE.md — 프로젝트의 설계도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AI에게 프로젝트 맥락을 정확히 전달하는 핵심 파일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57200" y="1737360"/>
            <a:ext cx="3931920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457200" y="1737360"/>
            <a:ext cx="39319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685800" y="18745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rPr>
              <a:t>CLAUDE.md란?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85800" y="2240280"/>
            <a:ext cx="34747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프로젝트 루트에 위치하는 설정 파일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/init 명령으로 자동 생성 가능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Claude Code가 가장 먼저 읽는 파일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프로젝트 규칙, 기술 스택, 컨벤션 정의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팀원 모두가 동일한 AI 경험을 공유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754880" y="1737360"/>
            <a:ext cx="3931920" cy="2834640"/>
          </a:xfrm>
          <a:prstGeom prst="rect">
            <a:avLst/>
          </a:prstGeom>
          <a:solidFill>
            <a:srgbClr val="1114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983480" y="18745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CLAUDE.md 핵심 구성 요소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983480" y="2240280"/>
            <a:ext cx="34747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# 프로젝트 목적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→ 이 프로젝트가 무엇인지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# 기술 스택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→ Python, FastAPI, SQLite 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# 코딩 규칙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→ 네이밍, 구조, 제약사항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# 파일 구조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→ 디렉토리 구조 안내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57200" y="320040"/>
            <a:ext cx="777240" cy="292608"/>
          </a:xfrm>
          <a:prstGeom prst="roundRect">
            <a:avLst>
              <a:gd fmla="val 15625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1교시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프롬프트 설계 패턴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Claude Code에게 정확하게 원하는 결과를 얻는 3가지 핵심 패턴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457200" y="1737360"/>
            <a:ext cx="265176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1463040" y="18745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1463040" y="1874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40080" y="24688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rPr>
              <a:t>역할 부여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94360" y="2880360"/>
            <a:ext cx="2377440" cy="960120"/>
          </a:xfrm>
          <a:prstGeom prst="rect">
            <a:avLst/>
          </a:prstGeom>
          <a:solidFill>
            <a:srgbClr val="1114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685800" y="292608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"넌 FastAPI 백엔드 전문가야.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이 프로젝트의 시니어 개발자로서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코드를 작성해줘."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39776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/>
          <p:nvPr/>
        </p:nvSpPr>
        <p:spPr>
          <a:xfrm>
            <a:off x="822960" y="39319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맥락을 좁혀줄수록 정확도 상승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3337560" y="1737360"/>
            <a:ext cx="265176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343400" y="187452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4343400" y="1874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3520440" y="24688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6B6D4"/>
                </a:solidFill>
                <a:latin typeface="Trebuchet MS"/>
                <a:ea typeface="Trebuchet MS"/>
                <a:cs typeface="Trebuchet MS"/>
                <a:sym typeface="Trebuchet MS"/>
              </a:rPr>
              <a:t>단계적 지시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474720" y="2880360"/>
            <a:ext cx="2377440" cy="960120"/>
          </a:xfrm>
          <a:prstGeom prst="rect">
            <a:avLst/>
          </a:prstGeom>
          <a:solidFill>
            <a:srgbClr val="1114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3566160" y="292608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"1단계: DB 스키마 설계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2단계: API 엔드포인트 생성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3단계: 에러 핸들링 추가"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0" y="39776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3703320" y="39319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복잡한 작업을 쪼개면 실수 감소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217920" y="1737360"/>
            <a:ext cx="265176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7223760" y="18745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7223760" y="1874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400800" y="24688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Trebuchet MS"/>
                <a:ea typeface="Trebuchet MS"/>
                <a:cs typeface="Trebuchet MS"/>
                <a:sym typeface="Trebuchet MS"/>
              </a:rPr>
              <a:t>제약 조건 명시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355080" y="2880360"/>
            <a:ext cx="2377440" cy="960120"/>
          </a:xfrm>
          <a:prstGeom prst="rect">
            <a:avLst/>
          </a:prstGeom>
          <a:solidFill>
            <a:srgbClr val="1114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6446520" y="292608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"Python 3.11 이상 사용,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external 라이브러리 최소화,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한글 주석 필수"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080" y="39776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8"/>
          <p:cNvSpPr/>
          <p:nvPr/>
        </p:nvSpPr>
        <p:spPr>
          <a:xfrm>
            <a:off x="6583680" y="39319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경계를 정해야 원하는 결과물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57200" y="320040"/>
            <a:ext cx="777240" cy="292608"/>
          </a:xfrm>
          <a:prstGeom prst="roundRect">
            <a:avLst>
              <a:gd fmla="val 15625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1교시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MCP — AI가 외부 세계와 소통하는 방법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Model Context Protocol: Claude Code가 DB, API 등 외부 도구에 접근하는 표준 프로토콜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640080" y="2011680"/>
            <a:ext cx="2194560" cy="1645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0" y="21945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/>
          <p:nvPr/>
        </p:nvSpPr>
        <p:spPr>
          <a:xfrm>
            <a:off x="640080" y="27432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Claude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40080" y="30632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프롬프트 입력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코드 생성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3017520" y="2560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MCP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28803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/>
          <p:cNvSpPr/>
          <p:nvPr/>
        </p:nvSpPr>
        <p:spPr>
          <a:xfrm>
            <a:off x="4297680" y="2011680"/>
            <a:ext cx="1828800" cy="164592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21945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/>
          <p:nvPr/>
        </p:nvSpPr>
        <p:spPr>
          <a:xfrm>
            <a:off x="4297680" y="27432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MCP Server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297680" y="30632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중간 다리 역할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2331720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6" name="Google Shape;17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3063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/>
          <p:nvPr/>
        </p:nvSpPr>
        <p:spPr>
          <a:xfrm>
            <a:off x="6858000" y="2011680"/>
            <a:ext cx="18288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8" name="Google Shape;17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0880" y="21488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/>
          <p:nvPr/>
        </p:nvSpPr>
        <p:spPr>
          <a:xfrm>
            <a:off x="7406640" y="2011680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SQLite 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858000" y="2834640"/>
            <a:ext cx="18288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40880" y="2971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7406640" y="2834640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API / 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3B82F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800" y="4160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/>
          <p:nvPr/>
        </p:nvSpPr>
        <p:spPr>
          <a:xfrm>
            <a:off x="1097280" y="40690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MCP를 쓰면 Claude Code가 직접 DB를 읽고 쓸 수 있습니다. 오늘은 SQLite MCP 서버를 사용합니다.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57200" y="320040"/>
            <a:ext cx="1463040" cy="292608"/>
          </a:xfrm>
          <a:prstGeom prst="roundRect">
            <a:avLst>
              <a:gd fmla="val 15625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457200" y="32004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1교시 · 데모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라이브 데모: SQLite DB + CRUD 만들기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Claude Code로 DB 스키마 설계부터 CRUD API까지 한 번에 만드는 과정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457200" y="1737360"/>
            <a:ext cx="82296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457200" y="1737360"/>
            <a:ext cx="64008" cy="6217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777240" y="1847088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777240" y="184708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1417320" y="1737360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MCP 설정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3657600" y="1737360"/>
            <a:ext cx="4846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SQLite MCP 서버 연결 설정 확인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457200" y="2487168"/>
            <a:ext cx="82296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457200" y="2487168"/>
            <a:ext cx="64008" cy="6217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777240" y="2596896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777240" y="259689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417320" y="2487168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DB 스키마 프롬프팅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3657600" y="2487168"/>
            <a:ext cx="4846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"사원 정보 테이블 만들어줘" → 자동 생성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57200" y="3236976"/>
            <a:ext cx="82296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457200" y="3236976"/>
            <a:ext cx="64008" cy="6217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777240" y="3346704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777240" y="334670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417320" y="3236976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CRUD API 생성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3657600" y="3236976"/>
            <a:ext cx="4846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FastAPI로 조회/등록/수정/삭제 엔드포인트 생성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457200" y="3986784"/>
            <a:ext cx="82296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457200" y="3986784"/>
            <a:ext cx="6400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777240" y="4096512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777240" y="409651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1417320" y="3986784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데이터 시딩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3657600" y="3986784"/>
            <a:ext cx="4846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테스트 데이터 자동 생성까지 프롬프트 하나로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💡 3교시 실습에서 이 과정을 직접 해보게 됩니다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28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-914400" y="914400"/>
            <a:ext cx="3657600" cy="3657600"/>
          </a:xfrm>
          <a:prstGeom prst="ellipse">
            <a:avLst/>
          </a:prstGeom>
          <a:solidFill>
            <a:srgbClr val="06B6D4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457200" y="1371600"/>
            <a:ext cx="1645920" cy="347472"/>
          </a:xfrm>
          <a:prstGeom prst="roundRect">
            <a:avLst>
              <a:gd fmla="val 21053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457200" y="13716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2교시  ·  45분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457200" y="19202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구글 안티그래비티 심화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+ 프론트-백 통합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57200" y="310896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웹 UI 생성  ·  API 연결  ·  사내 도구 활용 사례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457200" y="320040"/>
            <a:ext cx="777240" cy="292608"/>
          </a:xfrm>
          <a:prstGeom prst="roundRect">
            <a:avLst>
              <a:gd fmla="val 15625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2교시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구글 안티그래비티 — Agent 모드 활용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antigravity.google — AI Agent가 웹 앱을 만들어주는 도구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457200" y="1737360"/>
            <a:ext cx="39319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457200" y="1737360"/>
            <a:ext cx="39319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685800" y="19202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6B6D4"/>
                </a:solidFill>
                <a:latin typeface="Trebuchet MS"/>
                <a:ea typeface="Trebuchet MS"/>
                <a:cs typeface="Trebuchet MS"/>
                <a:sym typeface="Trebuchet MS"/>
              </a:rPr>
              <a:t>효과적인 프롬프트 전략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685800" y="2286000"/>
            <a:ext cx="3474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완성된 화면을 구체적으로 묘사하기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 "메뉴 카드가 그리드로 배열되고, 각 카드에 투표 버튼"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기능 단위로 나눠서 요청하기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 한 번에 모든 기능 X → 화면별로 하나씩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디자인 레퍼런스 제시하기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 "깔끔한 카드 UI, 파란색 계열, 모바일 대응"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4754880" y="1737360"/>
            <a:ext cx="39319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4754880" y="1737360"/>
            <a:ext cx="39319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4983480" y="19202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Trebuchet MS"/>
                <a:ea typeface="Trebuchet MS"/>
                <a:cs typeface="Trebuchet MS"/>
                <a:sym typeface="Trebuchet MS"/>
              </a:rPr>
              <a:t>Agent 모드 핵심 기능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4983480" y="2331720"/>
            <a:ext cx="3474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자연어로 웹 앱 생성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실시간 미리보기 &amp; 수정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반복 대화로 기능 추가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코드 내보내기(Export) 가능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배포까지 원클릭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457200" y="320040"/>
            <a:ext cx="1463040" cy="292608"/>
          </a:xfrm>
          <a:prstGeom prst="roundRect">
            <a:avLst>
              <a:gd fmla="val 15625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457200" y="32004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2교시 · 데모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라이브 데모: 프론트-백 통합 흐름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안티그래비티(프론트) + Claude Code(백엔드) + SQLite(DB) 연결 시연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457200" y="1828800"/>
            <a:ext cx="24688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457200" y="1828800"/>
            <a:ext cx="246888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457200" y="18288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프론트엔드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457200" y="23317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안티그래비티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640080" y="26517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웹 UI 자동 생성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사용자 인터랙션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API 호출 (fetch)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5" name="Google Shape;2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4680" y="26974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3"/>
          <p:cNvSpPr/>
          <p:nvPr/>
        </p:nvSpPr>
        <p:spPr>
          <a:xfrm>
            <a:off x="2971800" y="306324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HTTP 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3703320" y="1828800"/>
            <a:ext cx="246888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3703320" y="1828800"/>
            <a:ext cx="246888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3703320" y="182880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백엔드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3703320" y="23317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Claude Code + FastAPI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3886200" y="2651760"/>
            <a:ext cx="21031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API 엔드포인트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비즈니스 로직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DB 연동 처리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2" name="Google Shape;27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26974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3"/>
          <p:cNvSpPr/>
          <p:nvPr/>
        </p:nvSpPr>
        <p:spPr>
          <a:xfrm>
            <a:off x="6263640" y="3063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MCP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6949440" y="1828800"/>
            <a:ext cx="17373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6949440" y="1828800"/>
            <a:ext cx="1737360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6949440" y="182880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데이터베이스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6949440" y="23317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SQLite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7132320" y="2651760"/>
            <a:ext cx="1371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데이터 저장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설치 불필요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파일 기반 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06B6D4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0" name="Google Shape;28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3434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3"/>
          <p:cNvSpPr/>
          <p:nvPr/>
        </p:nvSpPr>
        <p:spPr>
          <a:xfrm>
            <a:off x="1097280" y="42519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이 전체 구조를 3교시 실습에서 직접 만들어봅니다. 프론트-백-DB 풀스택!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457200" y="320040"/>
            <a:ext cx="777240" cy="292608"/>
          </a:xfrm>
          <a:prstGeom prst="roundRect">
            <a:avLst>
              <a:gd fmla="val 15625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"/>
          <p:cNvSpPr/>
          <p:nvPr/>
        </p:nvSpPr>
        <p:spPr>
          <a:xfrm>
            <a:off x="457200" y="320040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2교시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사내 도구 &amp; 업무 자동화 활용 사례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바이브 코딩으로 이런 것들을 빠르게 만들 수 있습니다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457200" y="1737360"/>
            <a:ext cx="26517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457200" y="1737360"/>
            <a:ext cx="64008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685800" y="184708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사내 점심 투표 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685800" y="219456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오늘 실습에서 만들 앱!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DB + 웹 UI 통합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3337560" y="1737360"/>
            <a:ext cx="26517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>
            <a:off x="3337560" y="1737360"/>
            <a:ext cx="64008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3566160" y="184708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업무 대시보드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3566160" y="219456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팀 KPI, 프로젝트 현황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실시간 모니터링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6217920" y="1737360"/>
            <a:ext cx="26517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"/>
          <p:cNvSpPr/>
          <p:nvPr/>
        </p:nvSpPr>
        <p:spPr>
          <a:xfrm>
            <a:off x="6217920" y="1737360"/>
            <a:ext cx="64008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6446520" y="184708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코드 리뷰 도우미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6446520" y="219456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 자동 분석, 코드 품질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체크 자동화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457200" y="3154680"/>
            <a:ext cx="26517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457200" y="3154680"/>
            <a:ext cx="64008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685800" y="326440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회의록 자동 정리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685800" y="36118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회의 내용 요약,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액션 아이템 추출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3337560" y="3154680"/>
            <a:ext cx="26517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3337560" y="3154680"/>
            <a:ext cx="64008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3566160" y="326440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API 테스트 도구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3566160" y="36118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내부 API 테스트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자동 문서화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6217920" y="3154680"/>
            <a:ext cx="265176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6217920" y="3154680"/>
            <a:ext cx="64008" cy="1234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6446520" y="326440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온보딩 가이드 봇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6446520" y="36118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신규 입사자용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사내 정보 안내 봇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28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4572000" y="-914400"/>
            <a:ext cx="6400800" cy="6400800"/>
          </a:xfrm>
          <a:prstGeom prst="ellipse">
            <a:avLst/>
          </a:prstGeom>
          <a:solidFill>
            <a:srgbClr val="8B5CF6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457200" y="1371600"/>
            <a:ext cx="1645920" cy="347472"/>
          </a:xfrm>
          <a:prstGeom prst="roundRect">
            <a:avLst>
              <a:gd fmla="val 21053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457200" y="13716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3교시  ·  45분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457200" y="192024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개별 실습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457200" y="26517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사내 점심 메뉴 추천 &amp; 투표 앱 만들기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457200" y="33832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각자의 속도로, 각자의 방식으로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457200" y="320040"/>
            <a:ext cx="1463040" cy="292608"/>
          </a:xfrm>
          <a:prstGeom prst="roundRect">
            <a:avLst>
              <a:gd fmla="val 15625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"/>
          <p:cNvSpPr/>
          <p:nvPr/>
        </p:nvSpPr>
        <p:spPr>
          <a:xfrm>
            <a:off x="457200" y="32004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3교시 · 실습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실습 가이드: 점심 투표 앱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스텝별 가이드를 따라 진행하세요. 각 스텝의 프롬프트 예시를 활용하면 됩니다.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6"/>
          <p:cNvSpPr/>
          <p:nvPr/>
        </p:nvSpPr>
        <p:spPr>
          <a:xfrm>
            <a:off x="457200" y="1691640"/>
            <a:ext cx="64008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731520" y="1828800"/>
            <a:ext cx="822960" cy="292608"/>
          </a:xfrm>
          <a:prstGeom prst="roundRect">
            <a:avLst>
              <a:gd fmla="val 15625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"/>
          <p:cNvSpPr/>
          <p:nvPr/>
        </p:nvSpPr>
        <p:spPr>
          <a:xfrm>
            <a:off x="731520" y="182880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1691640" y="16916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2377440" y="169164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CLAUDE.md 작성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4754880" y="169164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템플릿을 참고하여 프로젝트 목적, 기술 스택, 규칙 정의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457200" y="2404872"/>
            <a:ext cx="82296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457200" y="2404872"/>
            <a:ext cx="64008" cy="594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731520" y="2542032"/>
            <a:ext cx="822960" cy="292608"/>
          </a:xfrm>
          <a:prstGeom prst="roundRect">
            <a:avLst>
              <a:gd fmla="val 15625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731520" y="2542032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1691640" y="240487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2377440" y="2404872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백엔드 생성 (Claude Code)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4754880" y="2404872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FastAPI + SQLite로 메뉴 CRUD + 투표 API 생성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457200" y="3118104"/>
            <a:ext cx="82296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457200" y="3118104"/>
            <a:ext cx="64008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731520" y="3255264"/>
            <a:ext cx="822960" cy="292608"/>
          </a:xfrm>
          <a:prstGeom prst="roundRect">
            <a:avLst>
              <a:gd fmla="val 15625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731520" y="3255264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1691640" y="3118104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2377440" y="3118104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프론트엔드 생성 (안티그래비티)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4754880" y="3118104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메뉴 등록 / 투표 / 결과 보기 화면 생성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457200" y="3831336"/>
            <a:ext cx="82296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457200" y="3831336"/>
            <a:ext cx="64008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731520" y="3968496"/>
            <a:ext cx="822960" cy="292608"/>
          </a:xfrm>
          <a:prstGeom prst="roundRect">
            <a:avLst>
              <a:gd fmla="val 15625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"/>
          <p:cNvSpPr/>
          <p:nvPr/>
        </p:nvSpPr>
        <p:spPr>
          <a:xfrm>
            <a:off x="731520" y="3968496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1691640" y="3831336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2377440" y="3831336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연결 &amp; 테스트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4754880" y="3831336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로컬에서 프론트-백 연결 후 동작 확인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8B5CF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6"/>
          <p:cNvSpPr/>
          <p:nvPr/>
        </p:nvSpPr>
        <p:spPr>
          <a:xfrm>
            <a:off x="685800" y="416052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막히면 가이드의 프롬프트 예시를 복사해서 사용하세요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✓  빨리 끝나면 보너스 미션에 도전!  |  실습이 어려우면 데모 영상 참고 가능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457200" y="320040"/>
            <a:ext cx="1600200" cy="292608"/>
          </a:xfrm>
          <a:prstGeom prst="roundRect">
            <a:avLst>
              <a:gd fmla="val 15625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/>
          <p:nvPr/>
        </p:nvSpPr>
        <p:spPr>
          <a:xfrm>
            <a:off x="457200" y="32004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3교시 · 보너스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빨리 끝나셨나요?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추가 기능을 자유롭게 도전해보세요!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457200" y="1737360"/>
            <a:ext cx="82296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457200" y="1737360"/>
            <a:ext cx="64008" cy="6217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>
            <a:off x="777240" y="1737360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투표 마감 시간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/>
          <p:cNvSpPr/>
          <p:nvPr/>
        </p:nvSpPr>
        <p:spPr>
          <a:xfrm>
            <a:off x="3108960" y="1737360"/>
            <a:ext cx="4114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특정 시간이 지나면 투표가 마감되는 기능 추가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7315200" y="1737360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⭐⭐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457200" y="2487168"/>
            <a:ext cx="82296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7"/>
          <p:cNvSpPr/>
          <p:nvPr/>
        </p:nvSpPr>
        <p:spPr>
          <a:xfrm>
            <a:off x="457200" y="2487168"/>
            <a:ext cx="64008" cy="6217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>
            <a:off x="777240" y="2487168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메뉴별 사진 업로드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3108960" y="2487168"/>
            <a:ext cx="4114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이미지 업로드 &amp; 표시 기능 구현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7315200" y="248716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⭐⭐⭐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457200" y="3236976"/>
            <a:ext cx="82296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7"/>
          <p:cNvSpPr/>
          <p:nvPr/>
        </p:nvSpPr>
        <p:spPr>
          <a:xfrm>
            <a:off x="457200" y="3236976"/>
            <a:ext cx="64008" cy="6217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7"/>
          <p:cNvSpPr/>
          <p:nvPr/>
        </p:nvSpPr>
        <p:spPr>
          <a:xfrm>
            <a:off x="777240" y="3236976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이번 주 인기 메뉴 통계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3108960" y="3236976"/>
            <a:ext cx="4114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차트로 이번 주 투표 결과 시각화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7315200" y="3236976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⭐⭐⭐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457200" y="3986784"/>
            <a:ext cx="82296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7"/>
          <p:cNvSpPr/>
          <p:nvPr/>
        </p:nvSpPr>
        <p:spPr>
          <a:xfrm>
            <a:off x="457200" y="3986784"/>
            <a:ext cx="64008" cy="6217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>
            <a:off x="777240" y="3986784"/>
            <a:ext cx="2286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나만의 기능 추가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3108960" y="3986784"/>
            <a:ext cx="4114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창의적으로 원하는 기능을 자유롭게!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7315200" y="3986784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28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8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3B82F6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8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8B5CF6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8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수고하셨습니다!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3840480" y="1965960"/>
            <a:ext cx="146304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8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오늘 배운 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1371600" y="2697480"/>
            <a:ext cx="2011680" cy="731520"/>
          </a:xfrm>
          <a:prstGeom prst="rect">
            <a:avLst/>
          </a:prstGeom>
          <a:solidFill>
            <a:srgbClr val="3B82F6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8"/>
          <p:cNvSpPr/>
          <p:nvPr/>
        </p:nvSpPr>
        <p:spPr>
          <a:xfrm>
            <a:off x="1371600" y="269748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실전 워크플로우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3749040" y="2697480"/>
            <a:ext cx="2011680" cy="731520"/>
          </a:xfrm>
          <a:prstGeom prst="rect">
            <a:avLst/>
          </a:prstGeom>
          <a:solidFill>
            <a:srgbClr val="06B6D4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8"/>
          <p:cNvSpPr/>
          <p:nvPr/>
        </p:nvSpPr>
        <p:spPr>
          <a:xfrm>
            <a:off x="3749040" y="269748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 + SQLite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DB 연결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6126480" y="2697480"/>
            <a:ext cx="2011680" cy="731520"/>
          </a:xfrm>
          <a:prstGeom prst="rect">
            <a:avLst/>
          </a:prstGeom>
          <a:solidFill>
            <a:srgbClr val="8B5CF6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"/>
          <p:cNvSpPr/>
          <p:nvPr/>
        </p:nvSpPr>
        <p:spPr>
          <a:xfrm>
            <a:off x="6126480" y="269748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안티그래비티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풀스택 PoC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이제 바이브 코딩으로 사내 도구를 직접 만들어보세요!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질문이 있으시면 언제든 연락주세요 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