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0" name="Google Shape;40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image" Target="../media/image18.png"/><Relationship Id="rId6" Type="http://schemas.openxmlformats.org/officeDocument/2006/relationships/image" Target="../media/image2.png"/><Relationship Id="rId7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7.png"/><Relationship Id="rId5" Type="http://schemas.openxmlformats.org/officeDocument/2006/relationships/image" Target="../media/image21.png"/><Relationship Id="rId6" Type="http://schemas.openxmlformats.org/officeDocument/2006/relationships/image" Target="../media/image17.png"/><Relationship Id="rId7" Type="http://schemas.openxmlformats.org/officeDocument/2006/relationships/image" Target="../media/image19.png"/><Relationship Id="rId8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428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6400800" y="1828800"/>
            <a:ext cx="4572000" cy="4572000"/>
          </a:xfrm>
          <a:prstGeom prst="ellipse">
            <a:avLst/>
          </a:prstGeom>
          <a:solidFill>
            <a:srgbClr val="8B5CF6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2926080" y="914400"/>
            <a:ext cx="3291840" cy="347472"/>
          </a:xfrm>
          <a:prstGeom prst="roundRect">
            <a:avLst>
              <a:gd fmla="val 21053" name="adj"/>
            </a:avLst>
          </a:prstGeom>
          <a:solidFill>
            <a:srgbClr val="3B82F6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2926080" y="91440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ADVANCED COURSE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57200" y="150876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바이브 코딩 심화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AI와 함께 OPIc 학습 앱 만들기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3840480" y="3063240"/>
            <a:ext cx="1463040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914400" y="333756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Claude Code CLI  ·  Node.js Express  ·  Gemini AI  ·  SQLite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사내 IT 개발자 심화 과정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200"/>
              <a:buFont typeface="Trebuchet MS"/>
              <a:buNone/>
            </a:pPr>
            <a:r>
              <a:rPr b="1" i="0" lang="en-US" sz="32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과정 개요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오늘 3시간 동안 무엇을 배우고, 무엇을 만들 수 있게 되는지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457200" y="1554480"/>
            <a:ext cx="192024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457200" y="1554480"/>
            <a:ext cx="19202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097280" y="187452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" name="Google Shape;3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61872" y="2039112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4"/>
          <p:cNvSpPr/>
          <p:nvPr/>
        </p:nvSpPr>
        <p:spPr>
          <a:xfrm>
            <a:off x="457200" y="265176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대상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594360" y="29260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주니어 개발자 20명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2560320" y="1554480"/>
            <a:ext cx="192024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2560320" y="1554480"/>
            <a:ext cx="19202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3200400" y="1874520"/>
            <a:ext cx="640080" cy="640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" name="Google Shape;42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64992" y="2039112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4"/>
          <p:cNvSpPr/>
          <p:nvPr/>
        </p:nvSpPr>
        <p:spPr>
          <a:xfrm>
            <a:off x="2560320" y="265176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시간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2697480" y="29260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3시간 (45분 × 3교시)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4663440" y="1554480"/>
            <a:ext cx="192024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4663440" y="1554480"/>
            <a:ext cx="19202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5303520" y="18745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8" name="Google Shape;4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112" y="2039112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4"/>
          <p:cNvSpPr/>
          <p:nvPr/>
        </p:nvSpPr>
        <p:spPr>
          <a:xfrm>
            <a:off x="4663440" y="265176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환경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4800600" y="29260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Windows 11 + 개인 노트북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6766560" y="1554480"/>
            <a:ext cx="192024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6766560" y="1554480"/>
            <a:ext cx="192024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7406640" y="187452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" name="Google Shape;54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71232" y="2039112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6766560" y="265176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목표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6903720" y="29260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학습 앱 기능 추가하기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3B82F6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" name="Google Shape;58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5800" y="40690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4"/>
          <p:cNvSpPr/>
          <p:nvPr/>
        </p:nvSpPr>
        <p:spPr>
          <a:xfrm>
            <a:off x="1143000" y="397764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기본 과정에서 배운 내용을 바탕으로, 오늘은 실제 프로젝트에 기능을 추가하는 수준으로 올라갑니다.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200"/>
              <a:buFont typeface="Trebuchet MS"/>
              <a:buNone/>
            </a:pPr>
            <a:r>
              <a:rPr b="1" i="0" lang="en-US" sz="32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오늘의 여정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3교시 구성, 마지막 시간에 개별 실습으로 마무리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457200" y="1463040"/>
            <a:ext cx="64008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0" name="Google Shape;7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57276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5"/>
          <p:cNvSpPr/>
          <p:nvPr/>
        </p:nvSpPr>
        <p:spPr>
          <a:xfrm>
            <a:off x="1188720" y="1463040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3B82F6"/>
                </a:solidFill>
                <a:latin typeface="Trebuchet MS"/>
                <a:ea typeface="Trebuchet MS"/>
                <a:cs typeface="Trebuchet MS"/>
                <a:sym typeface="Trebuchet MS"/>
              </a:rPr>
              <a:t>1교시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2103120" y="146304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45분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2926080" y="146304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Claude Code 실전 + DB 연결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6583680" y="1463040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CLAUDE.md, 프롬프트 패턴, MCP, SQLite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1828800" y="2212848"/>
            <a:ext cx="5486400" cy="320040"/>
          </a:xfrm>
          <a:prstGeom prst="rect">
            <a:avLst/>
          </a:prstGeom>
          <a:solidFill>
            <a:srgbClr val="E2E8F0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1828800" y="221284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☕ 15분 휴식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57200" y="2779776"/>
            <a:ext cx="8229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457200" y="2779776"/>
            <a:ext cx="64008" cy="548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9" name="Google Shape;7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1520" y="2889504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5"/>
          <p:cNvSpPr/>
          <p:nvPr/>
        </p:nvSpPr>
        <p:spPr>
          <a:xfrm>
            <a:off x="1188720" y="2779776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06B6D4"/>
                </a:solidFill>
                <a:latin typeface="Trebuchet MS"/>
                <a:ea typeface="Trebuchet MS"/>
                <a:cs typeface="Trebuchet MS"/>
                <a:sym typeface="Trebuchet MS"/>
              </a:rPr>
              <a:t>2교시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2103120" y="2779776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45분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2926080" y="2779776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Express API + Vanilla JS SPA + AI 통합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583680" y="2779776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REST API 설계, SPA 라우팅, Gemini AI 연동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1828800" y="3529584"/>
            <a:ext cx="5486400" cy="320040"/>
          </a:xfrm>
          <a:prstGeom prst="rect">
            <a:avLst/>
          </a:prstGeom>
          <a:solidFill>
            <a:srgbClr val="E2E8F0">
              <a:alpha val="5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1828800" y="3529584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☕ 15분 휴식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457200" y="4096512"/>
            <a:ext cx="8229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457200" y="4096512"/>
            <a:ext cx="64008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8" name="Google Shape;8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1520" y="42062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5"/>
          <p:cNvSpPr/>
          <p:nvPr/>
        </p:nvSpPr>
        <p:spPr>
          <a:xfrm>
            <a:off x="1188720" y="4096512"/>
            <a:ext cx="914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Trebuchet MS"/>
                <a:ea typeface="Trebuchet MS"/>
                <a:cs typeface="Trebuchet MS"/>
                <a:sym typeface="Trebuchet MS"/>
              </a:rPr>
              <a:t>3교시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2103120" y="4096512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45분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2926080" y="4096512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개별 실습: OPIc 단어 퀴즈 기능 만들기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6583680" y="409651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1~2교시 학습 내용 종합 실습 — 기존 앱에 기능 추가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428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3B82F6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457200" y="1371600"/>
            <a:ext cx="1645920" cy="347472"/>
          </a:xfrm>
          <a:prstGeom prst="roundRect">
            <a:avLst>
              <a:gd fmla="val 21053" name="adj"/>
            </a:avLst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457200" y="1371600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1교시  ·  45분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457200" y="192024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Claude Code 실전 워크플로우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+ DB 연결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457200" y="310896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CLAUDE.md  ·  프롬프트 패턴  ·  MCP  ·  better-sqlite3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457200" y="320040"/>
            <a:ext cx="777240" cy="292608"/>
          </a:xfrm>
          <a:prstGeom prst="roundRect">
            <a:avLst>
              <a:gd fmla="val 15625" name="adj"/>
            </a:avLst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"/>
          <p:cNvSpPr/>
          <p:nvPr/>
        </p:nvSpPr>
        <p:spPr>
          <a:xfrm>
            <a:off x="457200" y="320040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1교시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CLAUDE.md — 프로젝트의 설계도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AI에게 프로젝트 맥락을 정확히 전달하는 핵심 파일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457200" y="1737360"/>
            <a:ext cx="393192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457200" y="1737360"/>
            <a:ext cx="39319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685800" y="187452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3B82F6"/>
                </a:solidFill>
                <a:latin typeface="Trebuchet MS"/>
                <a:ea typeface="Trebuchet MS"/>
                <a:cs typeface="Trebuchet MS"/>
                <a:sym typeface="Trebuchet MS"/>
              </a:rPr>
              <a:t>CLAUDE.md란?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685800" y="2240280"/>
            <a:ext cx="347472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프로젝트 루트에 위치하는 설정 파일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/init 명령으로 자동 생성 가능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Claude Code가 가장 먼저 읽는 파일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프로젝트 규칙, 기술 스택, 컨벤션 정의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팀원 모두가 동일한 AI 경험을 공유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4754880" y="1737360"/>
            <a:ext cx="3931920" cy="2834640"/>
          </a:xfrm>
          <a:prstGeom prst="rect">
            <a:avLst/>
          </a:prstGeom>
          <a:solidFill>
            <a:srgbClr val="1114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4983480" y="187452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60A5FA"/>
                </a:solidFill>
                <a:latin typeface="Trebuchet MS"/>
                <a:ea typeface="Trebuchet MS"/>
                <a:cs typeface="Trebuchet MS"/>
                <a:sym typeface="Trebuchet MS"/>
              </a:rPr>
              <a:t>CLAUDE.md 핵심 구성 요소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4983480" y="2240280"/>
            <a:ext cx="347472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# 프로젝트 목적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→ 이 프로젝트가 무엇인지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# 기술 스택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→ Node.js, Express, SQLite 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# 코딩 규칙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→ XSS 방지, API 경로, 에러 형식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100"/>
              <a:buFont typeface="Consolas"/>
              <a:buNone/>
            </a:pPr>
            <a:r>
              <a:rPr b="1" i="0" lang="en-US" sz="11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# 파일 구조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→ 모듈-탭 매핑, 디렉토리 구조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8"/>
          <p:cNvSpPr/>
          <p:nvPr/>
        </p:nvSpPr>
        <p:spPr>
          <a:xfrm>
            <a:off x="457200" y="320040"/>
            <a:ext cx="777240" cy="292608"/>
          </a:xfrm>
          <a:prstGeom prst="roundRect">
            <a:avLst>
              <a:gd fmla="val 15625" name="adj"/>
            </a:avLst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8"/>
          <p:cNvSpPr/>
          <p:nvPr/>
        </p:nvSpPr>
        <p:spPr>
          <a:xfrm>
            <a:off x="457200" y="320040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1교시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프롬프트 설계 패턴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Claude Code에게 정확하게 원하는 결과를 얻는 3가지 핵심 패턴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457200" y="1737360"/>
            <a:ext cx="265176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8"/>
          <p:cNvSpPr/>
          <p:nvPr/>
        </p:nvSpPr>
        <p:spPr>
          <a:xfrm>
            <a:off x="1463040" y="187452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8"/>
          <p:cNvSpPr/>
          <p:nvPr/>
        </p:nvSpPr>
        <p:spPr>
          <a:xfrm>
            <a:off x="1463040" y="18745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640080" y="246888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3B82F6"/>
                </a:solidFill>
                <a:latin typeface="Trebuchet MS"/>
                <a:ea typeface="Trebuchet MS"/>
                <a:cs typeface="Trebuchet MS"/>
                <a:sym typeface="Trebuchet MS"/>
              </a:rPr>
              <a:t>역할 부여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594360" y="2880360"/>
            <a:ext cx="2377440" cy="960120"/>
          </a:xfrm>
          <a:prstGeom prst="rect">
            <a:avLst/>
          </a:prstGeom>
          <a:solidFill>
            <a:srgbClr val="1114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685800" y="292608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"넌 Express 백엔드 전문가야.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이 프로젝트의 시니어 개발자로서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코드를 작성해줘."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7" name="Google Shape;13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39776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8"/>
          <p:cNvSpPr/>
          <p:nvPr/>
        </p:nvSpPr>
        <p:spPr>
          <a:xfrm>
            <a:off x="822960" y="393192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맥락을 좁혀줄수록 정확도 상승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3337560" y="1737360"/>
            <a:ext cx="265176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4343400" y="1874520"/>
            <a:ext cx="548640" cy="548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4343400" y="18745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3520440" y="246888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6B6D4"/>
                </a:solidFill>
                <a:latin typeface="Trebuchet MS"/>
                <a:ea typeface="Trebuchet MS"/>
                <a:cs typeface="Trebuchet MS"/>
                <a:sym typeface="Trebuchet MS"/>
              </a:rPr>
              <a:t>단계적 지시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3474720" y="2880360"/>
            <a:ext cx="2377440" cy="960120"/>
          </a:xfrm>
          <a:prstGeom prst="rect">
            <a:avLst/>
          </a:prstGeom>
          <a:solidFill>
            <a:srgbClr val="1114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"/>
          <p:cNvSpPr/>
          <p:nvPr/>
        </p:nvSpPr>
        <p:spPr>
          <a:xfrm>
            <a:off x="3566160" y="292608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"1단계: quiz_results 테이블 설계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2단계: Express 라우트 생성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3단계: SPA 모듈 + CSS 추가"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5" name="Google Shape;14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39776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8"/>
          <p:cNvSpPr/>
          <p:nvPr/>
        </p:nvSpPr>
        <p:spPr>
          <a:xfrm>
            <a:off x="3703320" y="393192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복잡한 작업을 쪼개면 실수 감소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6217920" y="1737360"/>
            <a:ext cx="265176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"/>
          <p:cNvSpPr/>
          <p:nvPr/>
        </p:nvSpPr>
        <p:spPr>
          <a:xfrm>
            <a:off x="7223760" y="18745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7223760" y="18745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Trebuchet MS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6400800" y="246888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Trebuchet MS"/>
                <a:ea typeface="Trebuchet MS"/>
                <a:cs typeface="Trebuchet MS"/>
                <a:sym typeface="Trebuchet MS"/>
              </a:rPr>
              <a:t>제약 조건 명시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6355080" y="2880360"/>
            <a:ext cx="2377440" cy="960120"/>
          </a:xfrm>
          <a:prstGeom prst="rect">
            <a:avLst/>
          </a:prstGeom>
          <a:solidFill>
            <a:srgbClr val="1114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6446520" y="292608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"Node.js 20 이상 사용,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innerHTML 사용 금지 (XSS 방지),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60A5FA"/>
                </a:solidFill>
                <a:latin typeface="Consolas"/>
                <a:ea typeface="Consolas"/>
                <a:cs typeface="Consolas"/>
                <a:sym typeface="Consolas"/>
              </a:rPr>
              <a:t>API 경로 /api/v1/ 프리픽스"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3" name="Google Shape;15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55080" y="39776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8"/>
          <p:cNvSpPr/>
          <p:nvPr/>
        </p:nvSpPr>
        <p:spPr>
          <a:xfrm>
            <a:off x="6583680" y="3931920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경계를 정해야 원하는 결과물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457200" y="320040"/>
            <a:ext cx="777240" cy="292608"/>
          </a:xfrm>
          <a:prstGeom prst="roundRect">
            <a:avLst>
              <a:gd fmla="val 15625" name="adj"/>
            </a:avLst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457200" y="320040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1교시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MCP — AI가 외부 세계와 소통하는 방법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Model Context Protocol: Claude Code가 DB, API 등 외부 도구에 접근하는 표준 프로토콜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640080" y="2011680"/>
            <a:ext cx="2194560" cy="16459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6" name="Google Shape;16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63040" y="2194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9"/>
          <p:cNvSpPr/>
          <p:nvPr/>
        </p:nvSpPr>
        <p:spPr>
          <a:xfrm>
            <a:off x="640080" y="274320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Claude Code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640080" y="30632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프롬프트 입력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코드 생성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3017520" y="256032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B82F6"/>
                </a:solidFill>
                <a:latin typeface="Calibri"/>
                <a:ea typeface="Calibri"/>
                <a:cs typeface="Calibri"/>
                <a:sym typeface="Calibri"/>
              </a:rPr>
              <a:t>MCP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0" name="Google Shape;17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37560" y="28803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9"/>
          <p:cNvSpPr/>
          <p:nvPr/>
        </p:nvSpPr>
        <p:spPr>
          <a:xfrm>
            <a:off x="4297680" y="2011680"/>
            <a:ext cx="1828800" cy="1645920"/>
          </a:xfrm>
          <a:prstGeom prst="rect">
            <a:avLst/>
          </a:prstGeom>
          <a:solidFill>
            <a:srgbClr val="06B6D4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2" name="Google Shape;17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37760" y="219456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9"/>
          <p:cNvSpPr/>
          <p:nvPr/>
        </p:nvSpPr>
        <p:spPr>
          <a:xfrm>
            <a:off x="4297680" y="27432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MCP Server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4297680" y="306324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중간 다리 역할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5" name="Google Shape;17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0" y="2331720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6" name="Google Shape;17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0" y="306324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9"/>
          <p:cNvSpPr/>
          <p:nvPr/>
        </p:nvSpPr>
        <p:spPr>
          <a:xfrm>
            <a:off x="6858000" y="2011680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8" name="Google Shape;17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4088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9"/>
          <p:cNvSpPr/>
          <p:nvPr/>
        </p:nvSpPr>
        <p:spPr>
          <a:xfrm>
            <a:off x="7406640" y="2011680"/>
            <a:ext cx="1188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SQLite DB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6858000" y="2834640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1" name="Google Shape;181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040880" y="29718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9"/>
          <p:cNvSpPr/>
          <p:nvPr/>
        </p:nvSpPr>
        <p:spPr>
          <a:xfrm>
            <a:off x="7406640" y="2834640"/>
            <a:ext cx="1188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API / 웹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3B82F6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4" name="Google Shape;184;p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85800" y="41605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9"/>
          <p:cNvSpPr/>
          <p:nvPr/>
        </p:nvSpPr>
        <p:spPr>
          <a:xfrm>
            <a:off x="1097280" y="406908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MCP를 쓰면 Claude Code가 직접 DB를 읽고 쓸 수 있습니다. 오늘은 SQLite MCP 서버로 OPIc Master DB를 탐색합니다.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57200" y="320040"/>
            <a:ext cx="1463040" cy="292608"/>
          </a:xfrm>
          <a:prstGeom prst="roundRect">
            <a:avLst>
              <a:gd fmla="val 15625" name="adj"/>
            </a:avLst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"/>
          <p:cNvSpPr/>
          <p:nvPr/>
        </p:nvSpPr>
        <p:spPr>
          <a:xfrm>
            <a:off x="457200" y="3200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1교시 · 데모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라이브 데모: 기존 DB 탐색 + 퀴즈 API 만들기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Claude Code로 기존 DB 탐색부터 새 퀴즈 API까지 한 번에 만드는 과정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457200" y="1737360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0"/>
          <p:cNvSpPr/>
          <p:nvPr/>
        </p:nvSpPr>
        <p:spPr>
          <a:xfrm>
            <a:off x="457200" y="1737360"/>
            <a:ext cx="64008" cy="6217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0"/>
          <p:cNvSpPr/>
          <p:nvPr/>
        </p:nvSpPr>
        <p:spPr>
          <a:xfrm>
            <a:off x="777240" y="1847088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0"/>
          <p:cNvSpPr/>
          <p:nvPr/>
        </p:nvSpPr>
        <p:spPr>
          <a:xfrm>
            <a:off x="777240" y="1847088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1417320" y="173736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Trebuchet MS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MCP 설정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3657600" y="1737360"/>
            <a:ext cx="48463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SQLite MCP로 기존 DB 탐색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457200" y="2487168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0"/>
          <p:cNvSpPr/>
          <p:nvPr/>
        </p:nvSpPr>
        <p:spPr>
          <a:xfrm>
            <a:off x="457200" y="2487168"/>
            <a:ext cx="64008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0"/>
          <p:cNvSpPr/>
          <p:nvPr/>
        </p:nvSpPr>
        <p:spPr>
          <a:xfrm>
            <a:off x="777240" y="2596896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0"/>
          <p:cNvSpPr/>
          <p:nvPr/>
        </p:nvSpPr>
        <p:spPr>
          <a:xfrm>
            <a:off x="777240" y="2596896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1417320" y="24871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Trebuchet MS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quiz_results 테이블 추가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3657600" y="2487168"/>
            <a:ext cx="48463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"quiz_results 테이블 만들어줘" → 자동 생성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457200" y="3236976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0"/>
          <p:cNvSpPr/>
          <p:nvPr/>
        </p:nvSpPr>
        <p:spPr>
          <a:xfrm>
            <a:off x="457200" y="3236976"/>
            <a:ext cx="64008" cy="6217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0"/>
          <p:cNvSpPr/>
          <p:nvPr/>
        </p:nvSpPr>
        <p:spPr>
          <a:xfrm>
            <a:off x="777240" y="3346704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0"/>
          <p:cNvSpPr/>
          <p:nvPr/>
        </p:nvSpPr>
        <p:spPr>
          <a:xfrm>
            <a:off x="777240" y="3346704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03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1417320" y="323697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Trebuchet MS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퀴즈 API 생성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3657600" y="3236976"/>
            <a:ext cx="48463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Express로 generate/submit/history 엔드포인트 생성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457200" y="3986784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0"/>
          <p:cNvSpPr/>
          <p:nvPr/>
        </p:nvSpPr>
        <p:spPr>
          <a:xfrm>
            <a:off x="457200" y="3986784"/>
            <a:ext cx="64008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777240" y="4096512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0"/>
          <p:cNvSpPr/>
          <p:nvPr/>
        </p:nvSpPr>
        <p:spPr>
          <a:xfrm>
            <a:off x="777240" y="4096512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04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1417320" y="3986784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Trebuchet MS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API 테스트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3657600" y="3986784"/>
            <a:ext cx="48463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curl로 퀴즈 생성 &amp; 결과 저장 테스트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B82F6"/>
                </a:solidFill>
                <a:latin typeface="Calibri"/>
                <a:ea typeface="Calibri"/>
                <a:cs typeface="Calibri"/>
                <a:sym typeface="Calibri"/>
              </a:rPr>
              <a:t>💡 3교시 실습에서 이 전체 과정을 직접 해보게 됩니다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428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-914400" y="914400"/>
            <a:ext cx="3657600" cy="3657600"/>
          </a:xfrm>
          <a:prstGeom prst="ellipse">
            <a:avLst/>
          </a:prstGeom>
          <a:solidFill>
            <a:srgbClr val="06B6D4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/>
          <p:nvPr/>
        </p:nvSpPr>
        <p:spPr>
          <a:xfrm>
            <a:off x="457200" y="1371600"/>
            <a:ext cx="1645920" cy="347472"/>
          </a:xfrm>
          <a:prstGeom prst="roundRect">
            <a:avLst>
              <a:gd fmla="val 21053" name="adj"/>
            </a:avLst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1"/>
          <p:cNvSpPr/>
          <p:nvPr/>
        </p:nvSpPr>
        <p:spPr>
          <a:xfrm>
            <a:off x="457200" y="1371600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2교시  ·  45분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1"/>
          <p:cNvSpPr/>
          <p:nvPr/>
        </p:nvSpPr>
        <p:spPr>
          <a:xfrm>
            <a:off x="457200" y="192024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Express API + Vanilla JS SPA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+ AI 통합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1"/>
          <p:cNvSpPr/>
          <p:nvPr/>
        </p:nvSpPr>
        <p:spPr>
          <a:xfrm>
            <a:off x="457200" y="310896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7E8F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7E8F9"/>
                </a:solidFill>
                <a:latin typeface="Calibri"/>
                <a:ea typeface="Calibri"/>
                <a:cs typeface="Calibri"/>
                <a:sym typeface="Calibri"/>
              </a:rPr>
              <a:t>REST API  ·  SPA 라우팅  ·  Gemini AI 연동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2"/>
          <p:cNvSpPr/>
          <p:nvPr/>
        </p:nvSpPr>
        <p:spPr>
          <a:xfrm>
            <a:off x="457200" y="320040"/>
            <a:ext cx="777240" cy="292608"/>
          </a:xfrm>
          <a:prstGeom prst="roundRect">
            <a:avLst>
              <a:gd fmla="val 15625" name="adj"/>
            </a:avLst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2"/>
          <p:cNvSpPr/>
          <p:nvPr/>
        </p:nvSpPr>
        <p:spPr>
          <a:xfrm>
            <a:off x="457200" y="320040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2교시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Vanilla JS SPA + Gemini AI 연동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OPIc Master의 프론트-백-AI 통합 아키텍처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457200" y="1737360"/>
            <a:ext cx="39319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2"/>
          <p:cNvSpPr/>
          <p:nvPr/>
        </p:nvSpPr>
        <p:spPr>
          <a:xfrm>
            <a:off x="457200" y="1737360"/>
            <a:ext cx="39319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2"/>
          <p:cNvSpPr/>
          <p:nvPr/>
        </p:nvSpPr>
        <p:spPr>
          <a:xfrm>
            <a:off x="685800" y="192024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B6D4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06B6D4"/>
                </a:solidFill>
                <a:latin typeface="Trebuchet MS"/>
                <a:ea typeface="Trebuchet MS"/>
                <a:cs typeface="Trebuchet MS"/>
                <a:sym typeface="Trebuchet MS"/>
              </a:rPr>
              <a:t>SPA 모듈 개발 패턴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685800" y="2286000"/>
            <a:ext cx="34747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createElement + textContent로 DOM 생성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innerHTML 금지 (XSS 방지), 기존 모듈 패턴 따르기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 기반 SPA 라우팅 이해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app.js 라우터에 모듈 등록, render(container) 메서드 구현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Gemini AI 연동 방법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services/gemini.js 패턴으로 AI 기능 추가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2"/>
          <p:cNvSpPr/>
          <p:nvPr/>
        </p:nvSpPr>
        <p:spPr>
          <a:xfrm>
            <a:off x="4754880" y="1737360"/>
            <a:ext cx="39319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4754880" y="1737360"/>
            <a:ext cx="39319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2"/>
          <p:cNvSpPr/>
          <p:nvPr/>
        </p:nvSpPr>
        <p:spPr>
          <a:xfrm>
            <a:off x="4983480" y="192024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600"/>
              <a:buFont typeface="Trebuchet MS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Trebuchet MS"/>
                <a:ea typeface="Trebuchet MS"/>
                <a:cs typeface="Trebuchet MS"/>
                <a:sym typeface="Trebuchet MS"/>
              </a:rPr>
              <a:t>Gemini AI 활용 사례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2"/>
          <p:cNvSpPr/>
          <p:nvPr/>
        </p:nvSpPr>
        <p:spPr>
          <a:xfrm>
            <a:off x="4983480" y="2331720"/>
            <a:ext cx="34747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답변 평가 (5축 점수)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음성 녹음 분석 (멀티모달)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스크립트 생성/개선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퀴즈 힌트 생성 (실습 예정)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학습 계획 자동 생성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3"/>
          <p:cNvSpPr/>
          <p:nvPr/>
        </p:nvSpPr>
        <p:spPr>
          <a:xfrm>
            <a:off x="457200" y="320040"/>
            <a:ext cx="1463040" cy="292608"/>
          </a:xfrm>
          <a:prstGeom prst="roundRect">
            <a:avLst>
              <a:gd fmla="val 15625" name="adj"/>
            </a:avLst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3"/>
          <p:cNvSpPr/>
          <p:nvPr/>
        </p:nvSpPr>
        <p:spPr>
          <a:xfrm>
            <a:off x="457200" y="3200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2교시 · 데모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라이브 데모: 프론트-백 통합 흐름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Vanilla JS SPA(프론트) + Express(백엔드) + better-sqlite3(DB) + Gemini AI 연결 시연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3"/>
          <p:cNvSpPr/>
          <p:nvPr/>
        </p:nvSpPr>
        <p:spPr>
          <a:xfrm>
            <a:off x="457200" y="1828800"/>
            <a:ext cx="246888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3"/>
          <p:cNvSpPr/>
          <p:nvPr/>
        </p:nvSpPr>
        <p:spPr>
          <a:xfrm>
            <a:off x="457200" y="1828800"/>
            <a:ext cx="2468880" cy="41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457200" y="182880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프론트엔드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457200" y="233172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Vanilla JS SPA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3"/>
          <p:cNvSpPr/>
          <p:nvPr/>
        </p:nvSpPr>
        <p:spPr>
          <a:xfrm>
            <a:off x="640080" y="2651760"/>
            <a:ext cx="2103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Hash 라우팅 + 모듈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DOM 직접 조작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apiGet/apiPost (fetch)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65" name="Google Shape;26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54680" y="26974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3"/>
          <p:cNvSpPr/>
          <p:nvPr/>
        </p:nvSpPr>
        <p:spPr>
          <a:xfrm>
            <a:off x="2971800" y="306324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REST API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3"/>
          <p:cNvSpPr/>
          <p:nvPr/>
        </p:nvSpPr>
        <p:spPr>
          <a:xfrm>
            <a:off x="3703320" y="1828800"/>
            <a:ext cx="246888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3"/>
          <p:cNvSpPr/>
          <p:nvPr/>
        </p:nvSpPr>
        <p:spPr>
          <a:xfrm>
            <a:off x="3703320" y="1828800"/>
            <a:ext cx="246888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3"/>
          <p:cNvSpPr/>
          <p:nvPr/>
        </p:nvSpPr>
        <p:spPr>
          <a:xfrm>
            <a:off x="3703320" y="182880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백엔드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3"/>
          <p:cNvSpPr/>
          <p:nvPr/>
        </p:nvSpPr>
        <p:spPr>
          <a:xfrm>
            <a:off x="3703320" y="233172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Claude Code + Express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3886200" y="2651760"/>
            <a:ext cx="2103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REST API 엔드포인트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비즈니스 로직 + Gemini AI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SQLite 동기식 쿼리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72" name="Google Shape;27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0" y="26974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3"/>
          <p:cNvSpPr/>
          <p:nvPr/>
        </p:nvSpPr>
        <p:spPr>
          <a:xfrm>
            <a:off x="6263640" y="30632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MCP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3"/>
          <p:cNvSpPr/>
          <p:nvPr/>
        </p:nvSpPr>
        <p:spPr>
          <a:xfrm>
            <a:off x="6949440" y="1828800"/>
            <a:ext cx="173736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3"/>
          <p:cNvSpPr/>
          <p:nvPr/>
        </p:nvSpPr>
        <p:spPr>
          <a:xfrm>
            <a:off x="6949440" y="1828800"/>
            <a:ext cx="1737360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3"/>
          <p:cNvSpPr/>
          <p:nvPr/>
        </p:nvSpPr>
        <p:spPr>
          <a:xfrm>
            <a:off x="6949440" y="182880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데이터베이스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6949440" y="233172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SQLite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3"/>
          <p:cNvSpPr/>
          <p:nvPr/>
        </p:nvSpPr>
        <p:spPr>
          <a:xfrm>
            <a:off x="7132320" y="2651760"/>
            <a:ext cx="1371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데이터 저장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WAL 모드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Char char="•"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동기식 API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solidFill>
            <a:srgbClr val="06B6D4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0" name="Google Shape;28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43434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3"/>
          <p:cNvSpPr/>
          <p:nvPr/>
        </p:nvSpPr>
        <p:spPr>
          <a:xfrm>
            <a:off x="1097280" y="425196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 전체 구조를 3교시 실습에서 직접 확장합니다. 프론트-백-DB-AI 풀스택!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457200" y="320040"/>
            <a:ext cx="777240" cy="292608"/>
          </a:xfrm>
          <a:prstGeom prst="roundRect">
            <a:avLst>
              <a:gd fmla="val 15625" name="adj"/>
            </a:avLst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4"/>
          <p:cNvSpPr/>
          <p:nvPr/>
        </p:nvSpPr>
        <p:spPr>
          <a:xfrm>
            <a:off x="457200" y="320040"/>
            <a:ext cx="777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2교시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4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사내 도구 &amp; 업무 자동화 활용 사례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4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바이브 코딩으로 이런 학습 도구를 빠르게 만들 수 있습니다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4"/>
          <p:cNvSpPr/>
          <p:nvPr/>
        </p:nvSpPr>
        <p:spPr>
          <a:xfrm>
            <a:off x="457200" y="1737360"/>
            <a:ext cx="26517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4"/>
          <p:cNvSpPr/>
          <p:nvPr/>
        </p:nvSpPr>
        <p:spPr>
          <a:xfrm>
            <a:off x="457200" y="1737360"/>
            <a:ext cx="64008" cy="1234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4"/>
          <p:cNvSpPr/>
          <p:nvPr/>
        </p:nvSpPr>
        <p:spPr>
          <a:xfrm>
            <a:off x="685800" y="1847088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OPIc 모의시험 앱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685800" y="2194560"/>
            <a:ext cx="2286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오늘 실습 프로젝트!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Express + SPA + AI 통합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3337560" y="1737360"/>
            <a:ext cx="26517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4"/>
          <p:cNvSpPr/>
          <p:nvPr/>
        </p:nvSpPr>
        <p:spPr>
          <a:xfrm>
            <a:off x="3337560" y="1737360"/>
            <a:ext cx="64008" cy="1234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4"/>
          <p:cNvSpPr/>
          <p:nvPr/>
        </p:nvSpPr>
        <p:spPr>
          <a:xfrm>
            <a:off x="3566160" y="1847088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학습 대시보드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4"/>
          <p:cNvSpPr/>
          <p:nvPr/>
        </p:nvSpPr>
        <p:spPr>
          <a:xfrm>
            <a:off x="3566160" y="2194560"/>
            <a:ext cx="2286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점수 추이, 5축 레이더 차트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Chart.js 시각화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4"/>
          <p:cNvSpPr/>
          <p:nvPr/>
        </p:nvSpPr>
        <p:spPr>
          <a:xfrm>
            <a:off x="6217920" y="1737360"/>
            <a:ext cx="26517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4"/>
          <p:cNvSpPr/>
          <p:nvPr/>
        </p:nvSpPr>
        <p:spPr>
          <a:xfrm>
            <a:off x="6217920" y="1737360"/>
            <a:ext cx="64008" cy="1234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4"/>
          <p:cNvSpPr/>
          <p:nvPr/>
        </p:nvSpPr>
        <p:spPr>
          <a:xfrm>
            <a:off x="6446520" y="1847088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AI 피드백 시스템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4"/>
          <p:cNvSpPr/>
          <p:nvPr/>
        </p:nvSpPr>
        <p:spPr>
          <a:xfrm>
            <a:off x="6446520" y="2194560"/>
            <a:ext cx="2286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답변 평가, 레벨 예측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Gemini API 연동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4"/>
          <p:cNvSpPr/>
          <p:nvPr/>
        </p:nvSpPr>
        <p:spPr>
          <a:xfrm>
            <a:off x="457200" y="3154680"/>
            <a:ext cx="26517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4"/>
          <p:cNvSpPr/>
          <p:nvPr/>
        </p:nvSpPr>
        <p:spPr>
          <a:xfrm>
            <a:off x="457200" y="3154680"/>
            <a:ext cx="64008" cy="1234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4"/>
          <p:cNvSpPr/>
          <p:nvPr/>
        </p:nvSpPr>
        <p:spPr>
          <a:xfrm>
            <a:off x="685800" y="3264408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간격반복(SRS) 학습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4"/>
          <p:cNvSpPr/>
          <p:nvPr/>
        </p:nvSpPr>
        <p:spPr>
          <a:xfrm>
            <a:off x="685800" y="3611880"/>
            <a:ext cx="2286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SM-2 알고리즘,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플래시카드 복습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4"/>
          <p:cNvSpPr/>
          <p:nvPr/>
        </p:nvSpPr>
        <p:spPr>
          <a:xfrm>
            <a:off x="3337560" y="3154680"/>
            <a:ext cx="26517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4"/>
          <p:cNvSpPr/>
          <p:nvPr/>
        </p:nvSpPr>
        <p:spPr>
          <a:xfrm>
            <a:off x="3337560" y="3154680"/>
            <a:ext cx="64008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4"/>
          <p:cNvSpPr/>
          <p:nvPr/>
        </p:nvSpPr>
        <p:spPr>
          <a:xfrm>
            <a:off x="3566160" y="3264408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스크립트 빌더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4"/>
          <p:cNvSpPr/>
          <p:nvPr/>
        </p:nvSpPr>
        <p:spPr>
          <a:xfrm>
            <a:off x="3566160" y="3611880"/>
            <a:ext cx="2286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AI 생성/개선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자동 학습 계획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4"/>
          <p:cNvSpPr/>
          <p:nvPr/>
        </p:nvSpPr>
        <p:spPr>
          <a:xfrm>
            <a:off x="6217920" y="3154680"/>
            <a:ext cx="265176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4"/>
          <p:cNvSpPr/>
          <p:nvPr/>
        </p:nvSpPr>
        <p:spPr>
          <a:xfrm>
            <a:off x="6217920" y="3154680"/>
            <a:ext cx="64008" cy="1234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4"/>
          <p:cNvSpPr/>
          <p:nvPr/>
        </p:nvSpPr>
        <p:spPr>
          <a:xfrm>
            <a:off x="6446520" y="3264408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단어 퀴즈 기능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4"/>
          <p:cNvSpPr/>
          <p:nvPr/>
        </p:nvSpPr>
        <p:spPr>
          <a:xfrm>
            <a:off x="6446520" y="3611880"/>
            <a:ext cx="2286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오늘 실습에서 추가!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topic_vocabulary 활용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428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5"/>
          <p:cNvSpPr/>
          <p:nvPr/>
        </p:nvSpPr>
        <p:spPr>
          <a:xfrm>
            <a:off x="4572000" y="-914400"/>
            <a:ext cx="6400800" cy="6400800"/>
          </a:xfrm>
          <a:prstGeom prst="ellipse">
            <a:avLst/>
          </a:prstGeom>
          <a:solidFill>
            <a:srgbClr val="8B5CF6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5"/>
          <p:cNvSpPr/>
          <p:nvPr/>
        </p:nvSpPr>
        <p:spPr>
          <a:xfrm>
            <a:off x="457200" y="1371600"/>
            <a:ext cx="1645920" cy="347472"/>
          </a:xfrm>
          <a:prstGeom prst="roundRect">
            <a:avLst>
              <a:gd fmla="val 21053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5"/>
          <p:cNvSpPr/>
          <p:nvPr/>
        </p:nvSpPr>
        <p:spPr>
          <a:xfrm>
            <a:off x="457200" y="1371600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3교시  ·  45분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5"/>
          <p:cNvSpPr/>
          <p:nvPr/>
        </p:nvSpPr>
        <p:spPr>
          <a:xfrm>
            <a:off x="457200" y="19202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Trebuchet MS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개별 실습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5"/>
          <p:cNvSpPr/>
          <p:nvPr/>
        </p:nvSpPr>
        <p:spPr>
          <a:xfrm>
            <a:off x="457200" y="265176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4B5FD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OPIc Master에 단어 퀴즈 기능 추가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5"/>
          <p:cNvSpPr/>
          <p:nvPr/>
        </p:nvSpPr>
        <p:spPr>
          <a:xfrm>
            <a:off x="457200" y="33832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기존 앱에 새 기능을 추가하는 실전 연습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14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6"/>
          <p:cNvSpPr/>
          <p:nvPr/>
        </p:nvSpPr>
        <p:spPr>
          <a:xfrm>
            <a:off x="457200" y="320040"/>
            <a:ext cx="1463040" cy="292608"/>
          </a:xfrm>
          <a:prstGeom prst="roundRect">
            <a:avLst>
              <a:gd fmla="val 15625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6"/>
          <p:cNvSpPr/>
          <p:nvPr/>
        </p:nvSpPr>
        <p:spPr>
          <a:xfrm>
            <a:off x="457200" y="3200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3교시 · 실습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6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실습 가이드: OPIc 단어 퀴즈 기능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6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스텝별 가이드를 따라 진행하세요. 각 스텝의 프롬프트는 핸드아웃에 있습니다.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6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6"/>
          <p:cNvSpPr/>
          <p:nvPr/>
        </p:nvSpPr>
        <p:spPr>
          <a:xfrm>
            <a:off x="457200" y="1691640"/>
            <a:ext cx="64008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6"/>
          <p:cNvSpPr/>
          <p:nvPr/>
        </p:nvSpPr>
        <p:spPr>
          <a:xfrm>
            <a:off x="731520" y="1828800"/>
            <a:ext cx="822960" cy="292608"/>
          </a:xfrm>
          <a:prstGeom prst="roundRect">
            <a:avLst>
              <a:gd fmla="val 15625" name="adj"/>
            </a:avLst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6"/>
          <p:cNvSpPr/>
          <p:nvPr/>
        </p:nvSpPr>
        <p:spPr>
          <a:xfrm>
            <a:off x="731520" y="182880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6"/>
          <p:cNvSpPr/>
          <p:nvPr/>
        </p:nvSpPr>
        <p:spPr>
          <a:xfrm>
            <a:off x="1691640" y="169164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6"/>
          <p:cNvSpPr/>
          <p:nvPr/>
        </p:nvSpPr>
        <p:spPr>
          <a:xfrm>
            <a:off x="2377440" y="1691640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세팅 &amp; CLAUDE.md 확인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6"/>
          <p:cNvSpPr/>
          <p:nvPr/>
        </p:nvSpPr>
        <p:spPr>
          <a:xfrm>
            <a:off x="4754880" y="169164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git clone, npm install, .env 설정, 프로젝트 구조 파악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6"/>
          <p:cNvSpPr/>
          <p:nvPr/>
        </p:nvSpPr>
        <p:spPr>
          <a:xfrm>
            <a:off x="457200" y="2404872"/>
            <a:ext cx="8229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6"/>
          <p:cNvSpPr/>
          <p:nvPr/>
        </p:nvSpPr>
        <p:spPr>
          <a:xfrm>
            <a:off x="457200" y="2404872"/>
            <a:ext cx="64008" cy="594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6"/>
          <p:cNvSpPr/>
          <p:nvPr/>
        </p:nvSpPr>
        <p:spPr>
          <a:xfrm>
            <a:off x="731520" y="2542032"/>
            <a:ext cx="822960" cy="292608"/>
          </a:xfrm>
          <a:prstGeom prst="roundRect">
            <a:avLst>
              <a:gd fmla="val 15625" name="adj"/>
            </a:avLst>
          </a:prstGeom>
          <a:solidFill>
            <a:srgbClr val="06B6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6"/>
          <p:cNvSpPr/>
          <p:nvPr/>
        </p:nvSpPr>
        <p:spPr>
          <a:xfrm>
            <a:off x="731520" y="2542032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6"/>
          <p:cNvSpPr/>
          <p:nvPr/>
        </p:nvSpPr>
        <p:spPr>
          <a:xfrm>
            <a:off x="1691640" y="2404872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6"/>
          <p:cNvSpPr/>
          <p:nvPr/>
        </p:nvSpPr>
        <p:spPr>
          <a:xfrm>
            <a:off x="2377440" y="2404872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백엔드 — 퀴즈 API 생성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6"/>
          <p:cNvSpPr/>
          <p:nvPr/>
        </p:nvSpPr>
        <p:spPr>
          <a:xfrm>
            <a:off x="4754880" y="2404872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Express 라우트 + quiz_results 테이블 추가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6"/>
          <p:cNvSpPr/>
          <p:nvPr/>
        </p:nvSpPr>
        <p:spPr>
          <a:xfrm>
            <a:off x="457200" y="3118104"/>
            <a:ext cx="8229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6"/>
          <p:cNvSpPr/>
          <p:nvPr/>
        </p:nvSpPr>
        <p:spPr>
          <a:xfrm>
            <a:off x="457200" y="3118104"/>
            <a:ext cx="64008" cy="5943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6"/>
          <p:cNvSpPr/>
          <p:nvPr/>
        </p:nvSpPr>
        <p:spPr>
          <a:xfrm>
            <a:off x="731520" y="3255264"/>
            <a:ext cx="822960" cy="292608"/>
          </a:xfrm>
          <a:prstGeom prst="roundRect">
            <a:avLst>
              <a:gd fmla="val 15625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6"/>
          <p:cNvSpPr/>
          <p:nvPr/>
        </p:nvSpPr>
        <p:spPr>
          <a:xfrm>
            <a:off x="731520" y="3255264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6"/>
          <p:cNvSpPr/>
          <p:nvPr/>
        </p:nvSpPr>
        <p:spPr>
          <a:xfrm>
            <a:off x="1691640" y="3118104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6"/>
          <p:cNvSpPr/>
          <p:nvPr/>
        </p:nvSpPr>
        <p:spPr>
          <a:xfrm>
            <a:off x="2377440" y="3118104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프론트엔드 — 퀴즈 모듈 UI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6"/>
          <p:cNvSpPr/>
          <p:nvPr/>
        </p:nvSpPr>
        <p:spPr>
          <a:xfrm>
            <a:off x="4754880" y="3118104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QuizModule SPA 모듈 + CSS + 라우터 등록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6"/>
          <p:cNvSpPr/>
          <p:nvPr/>
        </p:nvSpPr>
        <p:spPr>
          <a:xfrm>
            <a:off x="457200" y="3831336"/>
            <a:ext cx="8229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6"/>
          <p:cNvSpPr/>
          <p:nvPr/>
        </p:nvSpPr>
        <p:spPr>
          <a:xfrm>
            <a:off x="457200" y="3831336"/>
            <a:ext cx="64008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6"/>
          <p:cNvSpPr/>
          <p:nvPr/>
        </p:nvSpPr>
        <p:spPr>
          <a:xfrm>
            <a:off x="731520" y="3968496"/>
            <a:ext cx="822960" cy="292608"/>
          </a:xfrm>
          <a:prstGeom prst="roundRect">
            <a:avLst>
              <a:gd fmla="val 15625" name="adj"/>
            </a:avLst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6"/>
          <p:cNvSpPr/>
          <p:nvPr/>
        </p:nvSpPr>
        <p:spPr>
          <a:xfrm>
            <a:off x="731520" y="3968496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 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6"/>
          <p:cNvSpPr/>
          <p:nvPr/>
        </p:nvSpPr>
        <p:spPr>
          <a:xfrm>
            <a:off x="1691640" y="3831336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6"/>
          <p:cNvSpPr/>
          <p:nvPr/>
        </p:nvSpPr>
        <p:spPr>
          <a:xfrm>
            <a:off x="2377440" y="3831336"/>
            <a:ext cx="2286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Trebuchet MS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연결 &amp; 테스트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6"/>
          <p:cNvSpPr/>
          <p:nvPr/>
        </p:nvSpPr>
        <p:spPr>
          <a:xfrm>
            <a:off x="4754880" y="3831336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서버 재시작, 브라우저에서 퀴즈 기능 확인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6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solidFill>
            <a:srgbClr val="8B5CF6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6"/>
          <p:cNvSpPr/>
          <p:nvPr/>
        </p:nvSpPr>
        <p:spPr>
          <a:xfrm>
            <a:off x="685800" y="416052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✓  막히면 핸드아웃의 프롬프트를 복사해서 사용하세요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✓  빨리 끝나면 보너스 미션에 도전!  |  막히면 강사에게 질문하세요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5F9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 / 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7"/>
          <p:cNvSpPr/>
          <p:nvPr/>
        </p:nvSpPr>
        <p:spPr>
          <a:xfrm>
            <a:off x="457200" y="320040"/>
            <a:ext cx="1600200" cy="292608"/>
          </a:xfrm>
          <a:prstGeom prst="roundRect">
            <a:avLst>
              <a:gd fmla="val 15625" name="adj"/>
            </a:avLst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7"/>
          <p:cNvSpPr/>
          <p:nvPr/>
        </p:nvSpPr>
        <p:spPr>
          <a:xfrm>
            <a:off x="457200" y="32004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3교시 · 보너스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7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Trebuchet MS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빨리 끝나셨나요?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7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추가 기능을 자유롭게 도전해보세요!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7"/>
          <p:cNvSpPr/>
          <p:nvPr/>
        </p:nvSpPr>
        <p:spPr>
          <a:xfrm>
            <a:off x="457200" y="1737360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7"/>
          <p:cNvSpPr/>
          <p:nvPr/>
        </p:nvSpPr>
        <p:spPr>
          <a:xfrm>
            <a:off x="457200" y="1737360"/>
            <a:ext cx="64008" cy="6217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7"/>
          <p:cNvSpPr/>
          <p:nvPr/>
        </p:nvSpPr>
        <p:spPr>
          <a:xfrm>
            <a:off x="777240" y="173736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Trebuchet MS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퀴즈 결과 대시보드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7"/>
          <p:cNvSpPr/>
          <p:nvPr/>
        </p:nvSpPr>
        <p:spPr>
          <a:xfrm>
            <a:off x="3108960" y="1737360"/>
            <a:ext cx="41148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Chart.js로 주제별 점수, 추이 그래프 시각화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7"/>
          <p:cNvSpPr/>
          <p:nvPr/>
        </p:nvSpPr>
        <p:spPr>
          <a:xfrm>
            <a:off x="7315200" y="1737360"/>
            <a:ext cx="1188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⭐⭐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7"/>
          <p:cNvSpPr/>
          <p:nvPr/>
        </p:nvSpPr>
        <p:spPr>
          <a:xfrm>
            <a:off x="457200" y="2487168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7"/>
          <p:cNvSpPr/>
          <p:nvPr/>
        </p:nvSpPr>
        <p:spPr>
          <a:xfrm>
            <a:off x="457200" y="2487168"/>
            <a:ext cx="64008" cy="6217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7"/>
          <p:cNvSpPr/>
          <p:nvPr/>
        </p:nvSpPr>
        <p:spPr>
          <a:xfrm>
            <a:off x="777240" y="24871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Trebuchet MS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틀린 단어 SRS 자동 등록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7"/>
          <p:cNvSpPr/>
          <p:nvPr/>
        </p:nvSpPr>
        <p:spPr>
          <a:xfrm>
            <a:off x="3108960" y="2487168"/>
            <a:ext cx="41148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오답 단어를 간격반복 복습 항목에 자동 추가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7"/>
          <p:cNvSpPr/>
          <p:nvPr/>
        </p:nvSpPr>
        <p:spPr>
          <a:xfrm>
            <a:off x="7315200" y="2487168"/>
            <a:ext cx="1188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⭐⭐⭐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7"/>
          <p:cNvSpPr/>
          <p:nvPr/>
        </p:nvSpPr>
        <p:spPr>
          <a:xfrm>
            <a:off x="457200" y="3236976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7"/>
          <p:cNvSpPr/>
          <p:nvPr/>
        </p:nvSpPr>
        <p:spPr>
          <a:xfrm>
            <a:off x="457200" y="3236976"/>
            <a:ext cx="64008" cy="6217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7"/>
          <p:cNvSpPr/>
          <p:nvPr/>
        </p:nvSpPr>
        <p:spPr>
          <a:xfrm>
            <a:off x="777240" y="323697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Trebuchet MS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AI 퀴즈 힌트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7"/>
          <p:cNvSpPr/>
          <p:nvPr/>
        </p:nvSpPr>
        <p:spPr>
          <a:xfrm>
            <a:off x="3108960" y="3236976"/>
            <a:ext cx="41148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Gemini API로 어려운 단어 힌트/예문 생성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7"/>
          <p:cNvSpPr/>
          <p:nvPr/>
        </p:nvSpPr>
        <p:spPr>
          <a:xfrm>
            <a:off x="7315200" y="3236976"/>
            <a:ext cx="1188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⭐⭐⭐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7"/>
          <p:cNvSpPr/>
          <p:nvPr/>
        </p:nvSpPr>
        <p:spPr>
          <a:xfrm>
            <a:off x="457200" y="3986784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7"/>
          <p:cNvSpPr/>
          <p:nvPr/>
        </p:nvSpPr>
        <p:spPr>
          <a:xfrm>
            <a:off x="457200" y="3986784"/>
            <a:ext cx="64008" cy="6217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7"/>
          <p:cNvSpPr/>
          <p:nvPr/>
        </p:nvSpPr>
        <p:spPr>
          <a:xfrm>
            <a:off x="777240" y="3986784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Trebuchet MS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Trebuchet MS"/>
                <a:ea typeface="Trebuchet MS"/>
                <a:cs typeface="Trebuchet MS"/>
                <a:sym typeface="Trebuchet MS"/>
              </a:rPr>
              <a:t>나만의 기능 추가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7"/>
          <p:cNvSpPr/>
          <p:nvPr/>
        </p:nvSpPr>
        <p:spPr>
          <a:xfrm>
            <a:off x="3108960" y="3986784"/>
            <a:ext cx="41148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창의적으로 원하는 기능을 자유롭게!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"/>
          <p:cNvSpPr/>
          <p:nvPr/>
        </p:nvSpPr>
        <p:spPr>
          <a:xfrm>
            <a:off x="7315200" y="3986784"/>
            <a:ext cx="1188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🚀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428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8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3B82F6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8"/>
          <p:cNvSpPr/>
          <p:nvPr/>
        </p:nvSpPr>
        <p:spPr>
          <a:xfrm>
            <a:off x="5486400" y="1828800"/>
            <a:ext cx="4572000" cy="4572000"/>
          </a:xfrm>
          <a:prstGeom prst="ellipse">
            <a:avLst/>
          </a:prstGeom>
          <a:solidFill>
            <a:srgbClr val="8B5CF6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8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Trebuchet MS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수고하셨습니다!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8"/>
          <p:cNvSpPr/>
          <p:nvPr/>
        </p:nvSpPr>
        <p:spPr>
          <a:xfrm>
            <a:off x="3840480" y="1965960"/>
            <a:ext cx="1463040" cy="2743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8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오늘 배운 것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8"/>
          <p:cNvSpPr/>
          <p:nvPr/>
        </p:nvSpPr>
        <p:spPr>
          <a:xfrm>
            <a:off x="1371600" y="2697480"/>
            <a:ext cx="2011680" cy="731520"/>
          </a:xfrm>
          <a:prstGeom prst="rect">
            <a:avLst/>
          </a:prstGeom>
          <a:solidFill>
            <a:srgbClr val="3B82F6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8"/>
          <p:cNvSpPr/>
          <p:nvPr/>
        </p:nvSpPr>
        <p:spPr>
          <a:xfrm>
            <a:off x="1371600" y="269748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Code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실전 워크플로우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8"/>
          <p:cNvSpPr/>
          <p:nvPr/>
        </p:nvSpPr>
        <p:spPr>
          <a:xfrm>
            <a:off x="3749040" y="2697480"/>
            <a:ext cx="2011680" cy="731520"/>
          </a:xfrm>
          <a:prstGeom prst="rect">
            <a:avLst/>
          </a:prstGeom>
          <a:solidFill>
            <a:srgbClr val="06B6D4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8"/>
          <p:cNvSpPr/>
          <p:nvPr/>
        </p:nvSpPr>
        <p:spPr>
          <a:xfrm>
            <a:off x="3749040" y="269748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Express + SQLite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+ DB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8"/>
          <p:cNvSpPr/>
          <p:nvPr/>
        </p:nvSpPr>
        <p:spPr>
          <a:xfrm>
            <a:off x="6126480" y="2697480"/>
            <a:ext cx="2011680" cy="731520"/>
          </a:xfrm>
          <a:prstGeom prst="rect">
            <a:avLst/>
          </a:prstGeom>
          <a:solidFill>
            <a:srgbClr val="8B5CF6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8"/>
          <p:cNvSpPr/>
          <p:nvPr/>
        </p:nvSpPr>
        <p:spPr>
          <a:xfrm>
            <a:off x="6126480" y="269748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SPA + Gemini AI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풀스택 기능 추가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8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이제 바이브 코딩으로 AI 학습 앱을 직접 확장해보세요!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8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질문이 있으시면 언제든 연락주세요 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